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301216" cy="953719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本页按用户提供截图重建，所有元素均为 PowerPoint 原生文本、形状、连接线或自由曲线。GPU、人物等为可编辑矢量近似重绘，并非原图位图。图标已分组，可右键取消组合编辑。</a:t>
            </a:r>
          </a:p>
          <a:p>
            <a:r>
              <a:t>符号沿用截图：τ 为短时隙时长，Δ 为 epoch 时长，H=10，Δ=Hτ。这与较早 MD 中用 Δ 表示 slot 数量的记号不同，不能直接混用。保留目标在 epoch 边界更新；实际常驻状态可因服务触发的重载在 epoch 内变化。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ng timescale: model-layer management (server agents)"/>
          <p:cNvSpPr txBox="1"/>
          <p:nvPr/>
        </p:nvSpPr>
        <p:spPr>
          <a:xfrm>
            <a:off x="2880360" y="36576"/>
            <a:ext cx="960120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i="0">
                <a:solidFill>
                  <a:srgbClr val="14162A"/>
                </a:solidFill>
                <a:latin typeface="Times New Roman"/>
              </a:rPr>
              <a:t>Long timescale: model-layer management (server agents)</a:t>
            </a:r>
          </a:p>
        </p:txBody>
      </p:sp>
      <p:cxnSp>
        <p:nvCxnSpPr>
          <p:cNvPr id="3" name="服务器入口箭头"/>
          <p:cNvCxnSpPr/>
          <p:nvPr/>
        </p:nvCxnSpPr>
        <p:spPr>
          <a:xfrm>
            <a:off x="137160" y="1353312"/>
            <a:ext cx="722376" cy="0"/>
          </a:xfrm>
          <a:prstGeom prst="line">
            <a:avLst/>
          </a:prstGeom>
          <a:ln w="24130">
            <a:solidFill>
              <a:srgbClr val="15171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图标-GPU（各部件均可编辑）"/>
          <p:cNvGrpSpPr/>
          <p:nvPr/>
        </p:nvGrpSpPr>
        <p:grpSpPr>
          <a:xfrm>
            <a:off x="1014984" y="822960"/>
            <a:ext cx="1874520" cy="1097280"/>
            <a:chOff x="1014984" y="822960"/>
            <a:chExt cx="1874520" cy="1097280"/>
          </a:xfrm>
        </p:grpSpPr>
        <p:sp>
          <p:nvSpPr>
            <p:cNvPr id="5" name="矩形"/>
            <p:cNvSpPr/>
            <p:nvPr/>
          </p:nvSpPr>
          <p:spPr>
            <a:xfrm>
              <a:off x="1088136" y="1815283"/>
              <a:ext cx="850392" cy="57249"/>
            </a:xfrm>
            <a:prstGeom prst="rect">
              <a:avLst/>
            </a:prstGeom>
            <a:solidFill>
              <a:srgbClr val="C5A337"/>
            </a:solidFill>
            <a:ln w="12700">
              <a:solidFill>
                <a:srgbClr val="5A51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矩形"/>
            <p:cNvSpPr/>
            <p:nvPr/>
          </p:nvSpPr>
          <p:spPr>
            <a:xfrm>
              <a:off x="1152144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矩形"/>
            <p:cNvSpPr/>
            <p:nvPr/>
          </p:nvSpPr>
          <p:spPr>
            <a:xfrm>
              <a:off x="1225296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矩形"/>
            <p:cNvSpPr/>
            <p:nvPr/>
          </p:nvSpPr>
          <p:spPr>
            <a:xfrm>
              <a:off x="1298448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矩形"/>
            <p:cNvSpPr/>
            <p:nvPr/>
          </p:nvSpPr>
          <p:spPr>
            <a:xfrm>
              <a:off x="1371600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矩形"/>
            <p:cNvSpPr/>
            <p:nvPr/>
          </p:nvSpPr>
          <p:spPr>
            <a:xfrm>
              <a:off x="1444752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矩形"/>
            <p:cNvSpPr/>
            <p:nvPr/>
          </p:nvSpPr>
          <p:spPr>
            <a:xfrm>
              <a:off x="1517904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矩形"/>
            <p:cNvSpPr/>
            <p:nvPr/>
          </p:nvSpPr>
          <p:spPr>
            <a:xfrm>
              <a:off x="1591056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矩形"/>
            <p:cNvSpPr/>
            <p:nvPr/>
          </p:nvSpPr>
          <p:spPr>
            <a:xfrm>
              <a:off x="1664208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矩形"/>
            <p:cNvSpPr/>
            <p:nvPr/>
          </p:nvSpPr>
          <p:spPr>
            <a:xfrm>
              <a:off x="1737360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矩形"/>
            <p:cNvSpPr/>
            <p:nvPr/>
          </p:nvSpPr>
          <p:spPr>
            <a:xfrm>
              <a:off x="1810512" y="1815283"/>
              <a:ext cx="36576" cy="57249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矩形"/>
            <p:cNvSpPr/>
            <p:nvPr/>
          </p:nvSpPr>
          <p:spPr>
            <a:xfrm>
              <a:off x="1088136" y="908834"/>
              <a:ext cx="1801368" cy="887366"/>
            </a:xfrm>
            <a:prstGeom prst="roundRect">
              <a:avLst>
                <a:gd name="adj" fmla="val 10000"/>
              </a:avLst>
            </a:prstGeom>
            <a:solidFill>
              <a:srgbClr val="F0F1F0"/>
            </a:solidFill>
            <a:ln w="12700">
              <a:solidFill>
                <a:srgbClr val="1517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GPU-金属上盖"/>
            <p:cNvSpPr/>
            <p:nvPr/>
          </p:nvSpPr>
          <p:spPr>
            <a:xfrm>
              <a:off x="1197864" y="927917"/>
              <a:ext cx="1609344" cy="324413"/>
            </a:xfrm>
            <a:custGeom>
              <a:avLst/>
              <a:gdLst/>
              <a:ahLst/>
              <a:cxnLst/>
              <a:rect l="0" t="0" r="w" b="h"/>
              <a:pathLst>
                <a:path w="1609344" h="324413" fill="norm" stroke="0">
                  <a:moveTo>
                    <a:pt x="0" y="0"/>
                  </a:moveTo>
                  <a:lnTo>
                    <a:pt x="539496" y="0"/>
                  </a:lnTo>
                  <a:lnTo>
                    <a:pt x="822960" y="219456"/>
                  </a:lnTo>
                  <a:lnTo>
                    <a:pt x="1097280" y="0"/>
                  </a:lnTo>
                  <a:lnTo>
                    <a:pt x="1609344" y="0"/>
                  </a:lnTo>
                  <a:lnTo>
                    <a:pt x="1481328" y="114499"/>
                  </a:lnTo>
                  <a:lnTo>
                    <a:pt x="1115568" y="133582"/>
                  </a:lnTo>
                  <a:lnTo>
                    <a:pt x="822960" y="324413"/>
                  </a:lnTo>
                  <a:lnTo>
                    <a:pt x="502920" y="143123"/>
                  </a:lnTo>
                  <a:lnTo>
                    <a:pt x="45720" y="124040"/>
                  </a:lnTo>
                  <a:close/>
                </a:path>
              </a:pathLst>
            </a:custGeom>
            <a:solidFill>
              <a:srgbClr val="767B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GPU-金属下盖"/>
            <p:cNvSpPr/>
            <p:nvPr/>
          </p:nvSpPr>
          <p:spPr>
            <a:xfrm>
              <a:off x="1216152" y="1443162"/>
              <a:ext cx="1572768" cy="343496"/>
            </a:xfrm>
            <a:custGeom>
              <a:avLst/>
              <a:gdLst/>
              <a:ahLst/>
              <a:cxnLst/>
              <a:rect l="0" t="0" r="w" b="h"/>
              <a:pathLst>
                <a:path w="1572768" h="343496" fill="norm" stroke="0">
                  <a:moveTo>
                    <a:pt x="0" y="200373"/>
                  </a:moveTo>
                  <a:lnTo>
                    <a:pt x="502920" y="200373"/>
                  </a:lnTo>
                  <a:lnTo>
                    <a:pt x="777240" y="0"/>
                  </a:lnTo>
                  <a:lnTo>
                    <a:pt x="1088136" y="219456"/>
                  </a:lnTo>
                  <a:lnTo>
                    <a:pt x="1572768" y="219456"/>
                  </a:lnTo>
                  <a:lnTo>
                    <a:pt x="1444752" y="333955"/>
                  </a:lnTo>
                  <a:lnTo>
                    <a:pt x="1097280" y="333955"/>
                  </a:lnTo>
                  <a:lnTo>
                    <a:pt x="786384" y="162207"/>
                  </a:lnTo>
                  <a:lnTo>
                    <a:pt x="493776" y="343496"/>
                  </a:lnTo>
                  <a:lnTo>
                    <a:pt x="0" y="333955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GPU-风扇外圈"/>
            <p:cNvSpPr/>
            <p:nvPr/>
          </p:nvSpPr>
          <p:spPr>
            <a:xfrm>
              <a:off x="1252728" y="975625"/>
              <a:ext cx="713232" cy="744242"/>
            </a:xfrm>
            <a:prstGeom prst="ellipse">
              <a:avLst/>
            </a:prstGeom>
            <a:solidFill>
              <a:srgbClr val="161B1E"/>
            </a:solidFill>
            <a:ln w="13970">
              <a:solidFill>
                <a:srgbClr val="474C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GPU-风扇底盘"/>
            <p:cNvSpPr/>
            <p:nvPr/>
          </p:nvSpPr>
          <p:spPr>
            <a:xfrm>
              <a:off x="1298448" y="1023333"/>
              <a:ext cx="621792" cy="648826"/>
            </a:xfrm>
            <a:prstGeom prst="ellipse">
              <a:avLst/>
            </a:prstGeom>
            <a:solidFill>
              <a:srgbClr val="2E33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GPU-风扇叶片"/>
            <p:cNvSpPr/>
            <p:nvPr/>
          </p:nvSpPr>
          <p:spPr>
            <a:xfrm rot="2640000">
              <a:off x="1682496" y="1271414"/>
              <a:ext cx="219456" cy="152665"/>
            </a:xfrm>
            <a:prstGeom prst="ellipse">
              <a:avLst/>
            </a:prstGeom>
            <a:solidFill>
              <a:srgbClr val="687074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GPU-风扇叶片"/>
            <p:cNvSpPr/>
            <p:nvPr/>
          </p:nvSpPr>
          <p:spPr>
            <a:xfrm rot="5725714">
              <a:off x="1613640" y="1420611"/>
              <a:ext cx="219456" cy="152665"/>
            </a:xfrm>
            <a:prstGeom prst="ellipse">
              <a:avLst/>
            </a:prstGeom>
            <a:solidFill>
              <a:srgbClr val="8E9699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GPU-风扇叶片"/>
            <p:cNvSpPr/>
            <p:nvPr/>
          </p:nvSpPr>
          <p:spPr>
            <a:xfrm rot="8811429">
              <a:off x="1458921" y="1457460"/>
              <a:ext cx="219456" cy="152665"/>
            </a:xfrm>
            <a:prstGeom prst="ellipse">
              <a:avLst/>
            </a:prstGeom>
            <a:solidFill>
              <a:srgbClr val="62696D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GPU-风扇叶片"/>
            <p:cNvSpPr/>
            <p:nvPr/>
          </p:nvSpPr>
          <p:spPr>
            <a:xfrm rot="11897143">
              <a:off x="1334847" y="1354212"/>
              <a:ext cx="219456" cy="152665"/>
            </a:xfrm>
            <a:prstGeom prst="ellipse">
              <a:avLst/>
            </a:prstGeom>
            <a:solidFill>
              <a:srgbClr val="687074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GPU-风扇叶片"/>
            <p:cNvSpPr/>
            <p:nvPr/>
          </p:nvSpPr>
          <p:spPr>
            <a:xfrm rot="14982857">
              <a:off x="1334847" y="1188615"/>
              <a:ext cx="219456" cy="152665"/>
            </a:xfrm>
            <a:prstGeom prst="ellipse">
              <a:avLst/>
            </a:prstGeom>
            <a:solidFill>
              <a:srgbClr val="8E9699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GPU-风扇叶片"/>
            <p:cNvSpPr/>
            <p:nvPr/>
          </p:nvSpPr>
          <p:spPr>
            <a:xfrm rot="18068571">
              <a:off x="1458921" y="1085367"/>
              <a:ext cx="219456" cy="152665"/>
            </a:xfrm>
            <a:prstGeom prst="ellipse">
              <a:avLst/>
            </a:prstGeom>
            <a:solidFill>
              <a:srgbClr val="62696D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GPU-风扇叶片"/>
            <p:cNvSpPr/>
            <p:nvPr/>
          </p:nvSpPr>
          <p:spPr>
            <a:xfrm rot="21154286">
              <a:off x="1613640" y="1122216"/>
              <a:ext cx="219456" cy="152665"/>
            </a:xfrm>
            <a:prstGeom prst="ellipse">
              <a:avLst/>
            </a:prstGeom>
            <a:solidFill>
              <a:srgbClr val="687074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GPU-风扇中心"/>
            <p:cNvSpPr/>
            <p:nvPr/>
          </p:nvSpPr>
          <p:spPr>
            <a:xfrm>
              <a:off x="1499616" y="1233247"/>
              <a:ext cx="219456" cy="228998"/>
            </a:xfrm>
            <a:prstGeom prst="ellipse">
              <a:avLst/>
            </a:prstGeom>
            <a:solidFill>
              <a:srgbClr val="BFC5C7"/>
            </a:solidFill>
            <a:ln w="12700">
              <a:solidFill>
                <a:srgbClr val="0A0F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GPU-中心高光"/>
            <p:cNvSpPr/>
            <p:nvPr/>
          </p:nvSpPr>
          <p:spPr>
            <a:xfrm>
              <a:off x="1545336" y="1280955"/>
              <a:ext cx="128016" cy="133582"/>
            </a:xfrm>
            <a:prstGeom prst="ellipse">
              <a:avLst/>
            </a:prstGeom>
            <a:solidFill>
              <a:srgbClr val="E9E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GPU-风扇外圈"/>
            <p:cNvSpPr/>
            <p:nvPr/>
          </p:nvSpPr>
          <p:spPr>
            <a:xfrm>
              <a:off x="2057400" y="975625"/>
              <a:ext cx="713232" cy="744242"/>
            </a:xfrm>
            <a:prstGeom prst="ellipse">
              <a:avLst/>
            </a:prstGeom>
            <a:solidFill>
              <a:srgbClr val="161B1E"/>
            </a:solidFill>
            <a:ln w="13970">
              <a:solidFill>
                <a:srgbClr val="474C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GPU-风扇底盘"/>
            <p:cNvSpPr/>
            <p:nvPr/>
          </p:nvSpPr>
          <p:spPr>
            <a:xfrm>
              <a:off x="2103120" y="1023333"/>
              <a:ext cx="621792" cy="648826"/>
            </a:xfrm>
            <a:prstGeom prst="ellipse">
              <a:avLst/>
            </a:prstGeom>
            <a:solidFill>
              <a:srgbClr val="2E33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GPU-风扇叶片"/>
            <p:cNvSpPr/>
            <p:nvPr/>
          </p:nvSpPr>
          <p:spPr>
            <a:xfrm rot="2640000">
              <a:off x="2487168" y="1271414"/>
              <a:ext cx="219456" cy="152665"/>
            </a:xfrm>
            <a:prstGeom prst="ellipse">
              <a:avLst/>
            </a:prstGeom>
            <a:solidFill>
              <a:srgbClr val="687074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GPU-风扇叶片"/>
            <p:cNvSpPr/>
            <p:nvPr/>
          </p:nvSpPr>
          <p:spPr>
            <a:xfrm rot="5725714">
              <a:off x="2418312" y="1420611"/>
              <a:ext cx="219456" cy="152665"/>
            </a:xfrm>
            <a:prstGeom prst="ellipse">
              <a:avLst/>
            </a:prstGeom>
            <a:solidFill>
              <a:srgbClr val="8E9699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GPU-风扇叶片"/>
            <p:cNvSpPr/>
            <p:nvPr/>
          </p:nvSpPr>
          <p:spPr>
            <a:xfrm rot="8811429">
              <a:off x="2263593" y="1457460"/>
              <a:ext cx="219456" cy="152665"/>
            </a:xfrm>
            <a:prstGeom prst="ellipse">
              <a:avLst/>
            </a:prstGeom>
            <a:solidFill>
              <a:srgbClr val="62696D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GPU-风扇叶片"/>
            <p:cNvSpPr/>
            <p:nvPr/>
          </p:nvSpPr>
          <p:spPr>
            <a:xfrm rot="11897143">
              <a:off x="2139519" y="1354212"/>
              <a:ext cx="219456" cy="152665"/>
            </a:xfrm>
            <a:prstGeom prst="ellipse">
              <a:avLst/>
            </a:prstGeom>
            <a:solidFill>
              <a:srgbClr val="687074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GPU-风扇叶片"/>
            <p:cNvSpPr/>
            <p:nvPr/>
          </p:nvSpPr>
          <p:spPr>
            <a:xfrm rot="14982857">
              <a:off x="2139519" y="1188615"/>
              <a:ext cx="219456" cy="152665"/>
            </a:xfrm>
            <a:prstGeom prst="ellipse">
              <a:avLst/>
            </a:prstGeom>
            <a:solidFill>
              <a:srgbClr val="8E9699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GPU-风扇叶片"/>
            <p:cNvSpPr/>
            <p:nvPr/>
          </p:nvSpPr>
          <p:spPr>
            <a:xfrm rot="18068571">
              <a:off x="2263593" y="1085367"/>
              <a:ext cx="219456" cy="152665"/>
            </a:xfrm>
            <a:prstGeom prst="ellipse">
              <a:avLst/>
            </a:prstGeom>
            <a:solidFill>
              <a:srgbClr val="62696D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GPU-风扇叶片"/>
            <p:cNvSpPr/>
            <p:nvPr/>
          </p:nvSpPr>
          <p:spPr>
            <a:xfrm rot="21154286">
              <a:off x="2418312" y="1122216"/>
              <a:ext cx="219456" cy="152665"/>
            </a:xfrm>
            <a:prstGeom prst="ellipse">
              <a:avLst/>
            </a:prstGeom>
            <a:solidFill>
              <a:srgbClr val="687074"/>
            </a:solidFill>
            <a:ln w="8255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GPU-风扇中心"/>
            <p:cNvSpPr/>
            <p:nvPr/>
          </p:nvSpPr>
          <p:spPr>
            <a:xfrm>
              <a:off x="2304288" y="1233247"/>
              <a:ext cx="219456" cy="228998"/>
            </a:xfrm>
            <a:prstGeom prst="ellipse">
              <a:avLst/>
            </a:prstGeom>
            <a:solidFill>
              <a:srgbClr val="BFC5C7"/>
            </a:solidFill>
            <a:ln w="12700">
              <a:solidFill>
                <a:srgbClr val="0A0F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GPU-中心高光"/>
            <p:cNvSpPr/>
            <p:nvPr/>
          </p:nvSpPr>
          <p:spPr>
            <a:xfrm>
              <a:off x="2350008" y="1280955"/>
              <a:ext cx="128016" cy="133582"/>
            </a:xfrm>
            <a:prstGeom prst="ellipse">
              <a:avLst/>
            </a:prstGeom>
            <a:solidFill>
              <a:srgbClr val="E9E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矩形"/>
            <p:cNvSpPr/>
            <p:nvPr/>
          </p:nvSpPr>
          <p:spPr>
            <a:xfrm>
              <a:off x="1097280" y="822960"/>
              <a:ext cx="54864" cy="1097280"/>
            </a:xfrm>
            <a:prstGeom prst="rect">
              <a:avLst/>
            </a:prstGeom>
            <a:solidFill>
              <a:srgbClr val="858985"/>
            </a:solidFill>
            <a:ln w="12700">
              <a:solidFill>
                <a:srgbClr val="1517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矩形"/>
            <p:cNvSpPr/>
            <p:nvPr/>
          </p:nvSpPr>
          <p:spPr>
            <a:xfrm>
              <a:off x="1014984" y="985167"/>
              <a:ext cx="82296" cy="114499"/>
            </a:xfrm>
            <a:prstGeom prst="rect">
              <a:avLst/>
            </a:prstGeom>
            <a:solidFill>
              <a:srgbClr val="737974"/>
            </a:solidFill>
            <a:ln w="12700">
              <a:solidFill>
                <a:srgbClr val="1517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矩形"/>
            <p:cNvSpPr/>
            <p:nvPr/>
          </p:nvSpPr>
          <p:spPr>
            <a:xfrm>
              <a:off x="1033272" y="1595827"/>
              <a:ext cx="73152" cy="104957"/>
            </a:xfrm>
            <a:prstGeom prst="rect">
              <a:avLst/>
            </a:prstGeom>
            <a:solidFill>
              <a:srgbClr val="737974"/>
            </a:solidFill>
            <a:ln w="12700">
              <a:solidFill>
                <a:srgbClr val="1517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矩形"/>
            <p:cNvSpPr/>
            <p:nvPr/>
          </p:nvSpPr>
          <p:spPr>
            <a:xfrm>
              <a:off x="2798064" y="1042416"/>
              <a:ext cx="73152" cy="47708"/>
            </a:xfrm>
            <a:prstGeom prst="rect">
              <a:avLst/>
            </a:prstGeom>
            <a:solidFill>
              <a:srgbClr val="393E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矩形"/>
            <p:cNvSpPr/>
            <p:nvPr/>
          </p:nvSpPr>
          <p:spPr>
            <a:xfrm>
              <a:off x="2798064" y="1214164"/>
              <a:ext cx="73152" cy="47708"/>
            </a:xfrm>
            <a:prstGeom prst="rect">
              <a:avLst/>
            </a:prstGeom>
            <a:solidFill>
              <a:srgbClr val="393E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矩形"/>
            <p:cNvSpPr/>
            <p:nvPr/>
          </p:nvSpPr>
          <p:spPr>
            <a:xfrm>
              <a:off x="2798064" y="1385912"/>
              <a:ext cx="73152" cy="47708"/>
            </a:xfrm>
            <a:prstGeom prst="rect">
              <a:avLst/>
            </a:prstGeom>
            <a:solidFill>
              <a:srgbClr val="393E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矩形"/>
            <p:cNvSpPr/>
            <p:nvPr/>
          </p:nvSpPr>
          <p:spPr>
            <a:xfrm>
              <a:off x="2798064" y="1557661"/>
              <a:ext cx="73152" cy="47708"/>
            </a:xfrm>
            <a:prstGeom prst="rect">
              <a:avLst/>
            </a:prstGeom>
            <a:solidFill>
              <a:srgbClr val="393E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" name="图标-近期请求统计"/>
          <p:cNvGrpSpPr/>
          <p:nvPr/>
        </p:nvGrpSpPr>
        <p:grpSpPr>
          <a:xfrm>
            <a:off x="4572000" y="694944"/>
            <a:ext cx="704088" cy="512064"/>
            <a:chOff x="4572000" y="694944"/>
            <a:chExt cx="704088" cy="512064"/>
          </a:xfrm>
        </p:grpSpPr>
        <p:sp>
          <p:nvSpPr>
            <p:cNvPr id="49" name="请求统计柱"/>
            <p:cNvSpPr/>
            <p:nvPr/>
          </p:nvSpPr>
          <p:spPr>
            <a:xfrm>
              <a:off x="4617720" y="996696"/>
              <a:ext cx="73152" cy="201168"/>
            </a:xfrm>
            <a:prstGeom prst="rect">
              <a:avLst/>
            </a:prstGeom>
            <a:solidFill>
              <a:srgbClr val="479F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统计柱高光"/>
            <p:cNvSpPr/>
            <p:nvPr/>
          </p:nvSpPr>
          <p:spPr>
            <a:xfrm>
              <a:off x="4617720" y="996696"/>
              <a:ext cx="18288" cy="201168"/>
            </a:xfrm>
            <a:prstGeom prst="rect">
              <a:avLst/>
            </a:prstGeom>
            <a:solidFill>
              <a:srgbClr val="9CC9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请求统计柱"/>
            <p:cNvSpPr/>
            <p:nvPr/>
          </p:nvSpPr>
          <p:spPr>
            <a:xfrm>
              <a:off x="4727448" y="832104"/>
              <a:ext cx="73152" cy="365760"/>
            </a:xfrm>
            <a:prstGeom prst="rect">
              <a:avLst/>
            </a:prstGeom>
            <a:solidFill>
              <a:srgbClr val="479F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统计柱高光"/>
            <p:cNvSpPr/>
            <p:nvPr/>
          </p:nvSpPr>
          <p:spPr>
            <a:xfrm>
              <a:off x="4727448" y="832104"/>
              <a:ext cx="18288" cy="365760"/>
            </a:xfrm>
            <a:prstGeom prst="rect">
              <a:avLst/>
            </a:prstGeom>
            <a:solidFill>
              <a:srgbClr val="9CC9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请求统计柱"/>
            <p:cNvSpPr/>
            <p:nvPr/>
          </p:nvSpPr>
          <p:spPr>
            <a:xfrm>
              <a:off x="4837176" y="694944"/>
              <a:ext cx="73152" cy="502920"/>
            </a:xfrm>
            <a:prstGeom prst="rect">
              <a:avLst/>
            </a:prstGeom>
            <a:solidFill>
              <a:srgbClr val="479F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统计柱高光"/>
            <p:cNvSpPr/>
            <p:nvPr/>
          </p:nvSpPr>
          <p:spPr>
            <a:xfrm>
              <a:off x="4837176" y="694944"/>
              <a:ext cx="18288" cy="502920"/>
            </a:xfrm>
            <a:prstGeom prst="rect">
              <a:avLst/>
            </a:prstGeom>
            <a:solidFill>
              <a:srgbClr val="9CC9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请求统计柱"/>
            <p:cNvSpPr/>
            <p:nvPr/>
          </p:nvSpPr>
          <p:spPr>
            <a:xfrm>
              <a:off x="4946904" y="868680"/>
              <a:ext cx="73152" cy="329184"/>
            </a:xfrm>
            <a:prstGeom prst="rect">
              <a:avLst/>
            </a:prstGeom>
            <a:solidFill>
              <a:srgbClr val="479F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统计柱高光"/>
            <p:cNvSpPr/>
            <p:nvPr/>
          </p:nvSpPr>
          <p:spPr>
            <a:xfrm>
              <a:off x="4946904" y="868680"/>
              <a:ext cx="18288" cy="329184"/>
            </a:xfrm>
            <a:prstGeom prst="rect">
              <a:avLst/>
            </a:prstGeom>
            <a:solidFill>
              <a:srgbClr val="9CC9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请求统计柱"/>
            <p:cNvSpPr/>
            <p:nvPr/>
          </p:nvSpPr>
          <p:spPr>
            <a:xfrm>
              <a:off x="5056632" y="996696"/>
              <a:ext cx="73152" cy="201168"/>
            </a:xfrm>
            <a:prstGeom prst="rect">
              <a:avLst/>
            </a:prstGeom>
            <a:solidFill>
              <a:srgbClr val="479F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统计柱高光"/>
            <p:cNvSpPr/>
            <p:nvPr/>
          </p:nvSpPr>
          <p:spPr>
            <a:xfrm>
              <a:off x="5056632" y="996696"/>
              <a:ext cx="18288" cy="201168"/>
            </a:xfrm>
            <a:prstGeom prst="rect">
              <a:avLst/>
            </a:prstGeom>
            <a:solidFill>
              <a:srgbClr val="9CC9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请求统计柱"/>
            <p:cNvSpPr/>
            <p:nvPr/>
          </p:nvSpPr>
          <p:spPr>
            <a:xfrm>
              <a:off x="5166360" y="1033272"/>
              <a:ext cx="73152" cy="164592"/>
            </a:xfrm>
            <a:prstGeom prst="rect">
              <a:avLst/>
            </a:prstGeom>
            <a:solidFill>
              <a:srgbClr val="479F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统计柱高光"/>
            <p:cNvSpPr/>
            <p:nvPr/>
          </p:nvSpPr>
          <p:spPr>
            <a:xfrm>
              <a:off x="5166360" y="1033272"/>
              <a:ext cx="18288" cy="164592"/>
            </a:xfrm>
            <a:prstGeom prst="rect">
              <a:avLst/>
            </a:prstGeom>
            <a:solidFill>
              <a:srgbClr val="9CC9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连接线"/>
            <p:cNvCxnSpPr/>
            <p:nvPr/>
          </p:nvCxnSpPr>
          <p:spPr>
            <a:xfrm>
              <a:off x="4572000" y="1207008"/>
              <a:ext cx="704088" cy="0"/>
            </a:xfrm>
            <a:prstGeom prst="line">
              <a:avLst/>
            </a:prstGeom>
            <a:ln w="15240">
              <a:solidFill>
                <a:srgbClr val="266C9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图标-显存模块"/>
          <p:cNvGrpSpPr/>
          <p:nvPr/>
        </p:nvGrpSpPr>
        <p:grpSpPr>
          <a:xfrm>
            <a:off x="5349240" y="850392"/>
            <a:ext cx="1051560" cy="374904"/>
            <a:chOff x="5349240" y="850392"/>
            <a:chExt cx="1051560" cy="374904"/>
          </a:xfrm>
        </p:grpSpPr>
        <p:sp>
          <p:nvSpPr>
            <p:cNvPr id="63" name="显存板"/>
            <p:cNvSpPr/>
            <p:nvPr/>
          </p:nvSpPr>
          <p:spPr>
            <a:xfrm>
              <a:off x="5349240" y="850392"/>
              <a:ext cx="1051560" cy="338328"/>
            </a:xfrm>
            <a:prstGeom prst="rect">
              <a:avLst/>
            </a:prstGeom>
            <a:solidFill>
              <a:srgbClr val="DCECF5"/>
            </a:solidFill>
            <a:ln w="21590">
              <a:solidFill>
                <a:srgbClr val="2156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显存芯片"/>
            <p:cNvSpPr/>
            <p:nvPr/>
          </p:nvSpPr>
          <p:spPr>
            <a:xfrm>
              <a:off x="5394960" y="896112"/>
              <a:ext cx="144780" cy="228600"/>
            </a:xfrm>
            <a:prstGeom prst="rect">
              <a:avLst/>
            </a:prstGeom>
            <a:solidFill>
              <a:srgbClr val="367DA4"/>
            </a:solidFill>
            <a:ln w="11430">
              <a:solidFill>
                <a:srgbClr val="1D4C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芯片高光"/>
            <p:cNvSpPr/>
            <p:nvPr/>
          </p:nvSpPr>
          <p:spPr>
            <a:xfrm>
              <a:off x="5413248" y="914400"/>
              <a:ext cx="27432" cy="192024"/>
            </a:xfrm>
            <a:prstGeom prst="rect">
              <a:avLst/>
            </a:prstGeom>
            <a:solidFill>
              <a:srgbClr val="9AC3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显存芯片"/>
            <p:cNvSpPr/>
            <p:nvPr/>
          </p:nvSpPr>
          <p:spPr>
            <a:xfrm>
              <a:off x="5556504" y="896112"/>
              <a:ext cx="144780" cy="228600"/>
            </a:xfrm>
            <a:prstGeom prst="rect">
              <a:avLst/>
            </a:prstGeom>
            <a:solidFill>
              <a:srgbClr val="367DA4"/>
            </a:solidFill>
            <a:ln w="11430">
              <a:solidFill>
                <a:srgbClr val="1D4C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芯片高光"/>
            <p:cNvSpPr/>
            <p:nvPr/>
          </p:nvSpPr>
          <p:spPr>
            <a:xfrm>
              <a:off x="5574792" y="914400"/>
              <a:ext cx="27432" cy="192024"/>
            </a:xfrm>
            <a:prstGeom prst="rect">
              <a:avLst/>
            </a:prstGeom>
            <a:solidFill>
              <a:srgbClr val="9AC3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显存芯片"/>
            <p:cNvSpPr/>
            <p:nvPr/>
          </p:nvSpPr>
          <p:spPr>
            <a:xfrm>
              <a:off x="5718048" y="896112"/>
              <a:ext cx="144780" cy="228600"/>
            </a:xfrm>
            <a:prstGeom prst="rect">
              <a:avLst/>
            </a:prstGeom>
            <a:solidFill>
              <a:srgbClr val="367DA4"/>
            </a:solidFill>
            <a:ln w="11430">
              <a:solidFill>
                <a:srgbClr val="1D4C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芯片高光"/>
            <p:cNvSpPr/>
            <p:nvPr/>
          </p:nvSpPr>
          <p:spPr>
            <a:xfrm>
              <a:off x="5736336" y="914400"/>
              <a:ext cx="27432" cy="192024"/>
            </a:xfrm>
            <a:prstGeom prst="rect">
              <a:avLst/>
            </a:prstGeom>
            <a:solidFill>
              <a:srgbClr val="9AC3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显存芯片"/>
            <p:cNvSpPr/>
            <p:nvPr/>
          </p:nvSpPr>
          <p:spPr>
            <a:xfrm>
              <a:off x="5879592" y="896112"/>
              <a:ext cx="144780" cy="228600"/>
            </a:xfrm>
            <a:prstGeom prst="rect">
              <a:avLst/>
            </a:prstGeom>
            <a:solidFill>
              <a:srgbClr val="367DA4"/>
            </a:solidFill>
            <a:ln w="11430">
              <a:solidFill>
                <a:srgbClr val="1D4C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芯片高光"/>
            <p:cNvSpPr/>
            <p:nvPr/>
          </p:nvSpPr>
          <p:spPr>
            <a:xfrm>
              <a:off x="5897880" y="914400"/>
              <a:ext cx="27432" cy="192024"/>
            </a:xfrm>
            <a:prstGeom prst="rect">
              <a:avLst/>
            </a:prstGeom>
            <a:solidFill>
              <a:srgbClr val="9AC3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显存芯片"/>
            <p:cNvSpPr/>
            <p:nvPr/>
          </p:nvSpPr>
          <p:spPr>
            <a:xfrm>
              <a:off x="6041136" y="896112"/>
              <a:ext cx="144780" cy="228600"/>
            </a:xfrm>
            <a:prstGeom prst="rect">
              <a:avLst/>
            </a:prstGeom>
            <a:solidFill>
              <a:srgbClr val="367DA4"/>
            </a:solidFill>
            <a:ln w="11430">
              <a:solidFill>
                <a:srgbClr val="1D4C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芯片高光"/>
            <p:cNvSpPr/>
            <p:nvPr/>
          </p:nvSpPr>
          <p:spPr>
            <a:xfrm>
              <a:off x="6059424" y="914400"/>
              <a:ext cx="27432" cy="192024"/>
            </a:xfrm>
            <a:prstGeom prst="rect">
              <a:avLst/>
            </a:prstGeom>
            <a:solidFill>
              <a:srgbClr val="9AC3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显存芯片"/>
            <p:cNvSpPr/>
            <p:nvPr/>
          </p:nvSpPr>
          <p:spPr>
            <a:xfrm>
              <a:off x="6202680" y="896112"/>
              <a:ext cx="144780" cy="228600"/>
            </a:xfrm>
            <a:prstGeom prst="rect">
              <a:avLst/>
            </a:prstGeom>
            <a:solidFill>
              <a:srgbClr val="367DA4"/>
            </a:solidFill>
            <a:ln w="11430">
              <a:solidFill>
                <a:srgbClr val="1D4C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芯片高光"/>
            <p:cNvSpPr/>
            <p:nvPr/>
          </p:nvSpPr>
          <p:spPr>
            <a:xfrm>
              <a:off x="6220968" y="914400"/>
              <a:ext cx="27432" cy="192024"/>
            </a:xfrm>
            <a:prstGeom prst="rect">
              <a:avLst/>
            </a:prstGeom>
            <a:solidFill>
              <a:srgbClr val="9AC3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显存金手指"/>
            <p:cNvSpPr/>
            <p:nvPr/>
          </p:nvSpPr>
          <p:spPr>
            <a:xfrm>
              <a:off x="5385816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显存金手指"/>
            <p:cNvSpPr/>
            <p:nvPr/>
          </p:nvSpPr>
          <p:spPr>
            <a:xfrm>
              <a:off x="5451653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显存金手指"/>
            <p:cNvSpPr/>
            <p:nvPr/>
          </p:nvSpPr>
          <p:spPr>
            <a:xfrm>
              <a:off x="5517490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显存金手指"/>
            <p:cNvSpPr/>
            <p:nvPr/>
          </p:nvSpPr>
          <p:spPr>
            <a:xfrm>
              <a:off x="5583326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显存金手指"/>
            <p:cNvSpPr/>
            <p:nvPr/>
          </p:nvSpPr>
          <p:spPr>
            <a:xfrm>
              <a:off x="5649163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显存金手指"/>
            <p:cNvSpPr/>
            <p:nvPr/>
          </p:nvSpPr>
          <p:spPr>
            <a:xfrm>
              <a:off x="5715000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显存金手指"/>
            <p:cNvSpPr/>
            <p:nvPr/>
          </p:nvSpPr>
          <p:spPr>
            <a:xfrm>
              <a:off x="5780837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显存金手指"/>
            <p:cNvSpPr/>
            <p:nvPr/>
          </p:nvSpPr>
          <p:spPr>
            <a:xfrm>
              <a:off x="5846674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显存金手指"/>
            <p:cNvSpPr/>
            <p:nvPr/>
          </p:nvSpPr>
          <p:spPr>
            <a:xfrm>
              <a:off x="5912510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显存金手指"/>
            <p:cNvSpPr/>
            <p:nvPr/>
          </p:nvSpPr>
          <p:spPr>
            <a:xfrm>
              <a:off x="5978347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显存金手指"/>
            <p:cNvSpPr/>
            <p:nvPr/>
          </p:nvSpPr>
          <p:spPr>
            <a:xfrm>
              <a:off x="6044184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显存金手指"/>
            <p:cNvSpPr/>
            <p:nvPr/>
          </p:nvSpPr>
          <p:spPr>
            <a:xfrm>
              <a:off x="6110021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显存金手指"/>
            <p:cNvSpPr/>
            <p:nvPr/>
          </p:nvSpPr>
          <p:spPr>
            <a:xfrm>
              <a:off x="6175858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显存金手指"/>
            <p:cNvSpPr/>
            <p:nvPr/>
          </p:nvSpPr>
          <p:spPr>
            <a:xfrm>
              <a:off x="6241694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显存金手指"/>
            <p:cNvSpPr/>
            <p:nvPr/>
          </p:nvSpPr>
          <p:spPr>
            <a:xfrm>
              <a:off x="6307531" y="1188720"/>
              <a:ext cx="41148" cy="36576"/>
            </a:xfrm>
            <a:prstGeom prst="rect">
              <a:avLst/>
            </a:prstGeom>
            <a:solidFill>
              <a:srgbClr val="DDC2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1" name="Observe demand and GPU state"/>
          <p:cNvSpPr txBox="1"/>
          <p:nvPr/>
        </p:nvSpPr>
        <p:spPr>
          <a:xfrm>
            <a:off x="3758184" y="1259860"/>
            <a:ext cx="3337560" cy="6349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4162A"/>
                </a:solidFill>
                <a:latin typeface="Times New Roman"/>
              </a:rPr>
              <a:t>Observe demand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4162A"/>
                </a:solidFill>
                <a:latin typeface="Times New Roman"/>
              </a:rPr>
              <a:t>and GPU state</a:t>
            </a:r>
          </a:p>
        </p:txBody>
      </p:sp>
      <p:sp>
        <p:nvSpPr>
          <p:cNvPr id="92" name="Recent requests, residency and memory use"/>
          <p:cNvSpPr txBox="1"/>
          <p:nvPr/>
        </p:nvSpPr>
        <p:spPr>
          <a:xfrm>
            <a:off x="3593592" y="1883664"/>
            <a:ext cx="371246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4162A"/>
                </a:solidFill>
                <a:latin typeface="Times New Roman"/>
              </a:rPr>
              <a:t>Recent requests, residency and memory use</a:t>
            </a:r>
          </a:p>
        </p:txBody>
      </p:sp>
      <p:grpSp>
        <p:nvGrpSpPr>
          <p:cNvPr id="93" name="图标-模型层堆栈"/>
          <p:cNvGrpSpPr/>
          <p:nvPr/>
        </p:nvGrpSpPr>
        <p:grpSpPr>
          <a:xfrm>
            <a:off x="8037576" y="594360"/>
            <a:ext cx="832104" cy="804672"/>
            <a:chOff x="8037576" y="594360"/>
            <a:chExt cx="832104" cy="804672"/>
          </a:xfrm>
        </p:grpSpPr>
        <p:sp>
          <p:nvSpPr>
            <p:cNvPr id="94" name="模型层-顶面"/>
            <p:cNvSpPr/>
            <p:nvPr/>
          </p:nvSpPr>
          <p:spPr>
            <a:xfrm>
              <a:off x="8037576" y="594360"/>
              <a:ext cx="832104" cy="219456"/>
            </a:xfrm>
            <a:custGeom>
              <a:avLst/>
              <a:gdLst/>
              <a:ahLst/>
              <a:cxnLst/>
              <a:rect l="0" t="0" r="w" b="h"/>
              <a:pathLst>
                <a:path w="832104" h="219456" fill="norm" stroke="1">
                  <a:moveTo>
                    <a:pt x="0" y="219456"/>
                  </a:moveTo>
                  <a:lnTo>
                    <a:pt x="219456" y="0"/>
                  </a:lnTo>
                  <a:lnTo>
                    <a:pt x="832104" y="0"/>
                  </a:lnTo>
                  <a:lnTo>
                    <a:pt x="612648" y="219456"/>
                  </a:lnTo>
                  <a:close/>
                </a:path>
              </a:pathLst>
            </a:custGeom>
            <a:solidFill>
              <a:srgbClr val="B7D8EC"/>
            </a:solidFill>
            <a:ln w="15240">
              <a:solidFill>
                <a:srgbClr val="245C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模型层-侧面"/>
            <p:cNvSpPr/>
            <p:nvPr/>
          </p:nvSpPr>
          <p:spPr>
            <a:xfrm>
              <a:off x="8650224" y="594360"/>
              <a:ext cx="219456" cy="347472"/>
            </a:xfrm>
            <a:custGeom>
              <a:avLst/>
              <a:gdLst/>
              <a:ahLst/>
              <a:cxnLst/>
              <a:rect l="0" t="0" r="w" b="h"/>
              <a:pathLst>
                <a:path w="219456" h="347472" fill="norm" stroke="1">
                  <a:moveTo>
                    <a:pt x="0" y="219456"/>
                  </a:moveTo>
                  <a:lnTo>
                    <a:pt x="219456" y="0"/>
                  </a:lnTo>
                  <a:lnTo>
                    <a:pt x="219456" y="128016"/>
                  </a:lnTo>
                  <a:lnTo>
                    <a:pt x="0" y="347472"/>
                  </a:lnTo>
                  <a:close/>
                </a:path>
              </a:pathLst>
            </a:custGeom>
            <a:solidFill>
              <a:srgbClr val="245C7C"/>
            </a:solidFill>
            <a:ln w="13970">
              <a:solidFill>
                <a:srgbClr val="245C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模型层-正面"/>
            <p:cNvSpPr/>
            <p:nvPr/>
          </p:nvSpPr>
          <p:spPr>
            <a:xfrm>
              <a:off x="8037576" y="813816"/>
              <a:ext cx="612648" cy="128016"/>
            </a:xfrm>
            <a:prstGeom prst="rect">
              <a:avLst/>
            </a:prstGeom>
            <a:solidFill>
              <a:srgbClr val="6DB3D7"/>
            </a:solidFill>
            <a:ln w="15240">
              <a:solidFill>
                <a:srgbClr val="245C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模型层-顶面"/>
            <p:cNvSpPr/>
            <p:nvPr/>
          </p:nvSpPr>
          <p:spPr>
            <a:xfrm>
              <a:off x="8037576" y="822960"/>
              <a:ext cx="832104" cy="219456"/>
            </a:xfrm>
            <a:custGeom>
              <a:avLst/>
              <a:gdLst/>
              <a:ahLst/>
              <a:cxnLst/>
              <a:rect l="0" t="0" r="w" b="h"/>
              <a:pathLst>
                <a:path w="832104" h="219456" fill="norm" stroke="1">
                  <a:moveTo>
                    <a:pt x="0" y="219456"/>
                  </a:moveTo>
                  <a:lnTo>
                    <a:pt x="219456" y="0"/>
                  </a:lnTo>
                  <a:lnTo>
                    <a:pt x="832104" y="0"/>
                  </a:lnTo>
                  <a:lnTo>
                    <a:pt x="612648" y="219456"/>
                  </a:lnTo>
                  <a:close/>
                </a:path>
              </a:pathLst>
            </a:custGeom>
            <a:solidFill>
              <a:srgbClr val="81E2E8"/>
            </a:solidFill>
            <a:ln w="15240">
              <a:solidFill>
                <a:srgbClr val="126F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模型层-侧面"/>
            <p:cNvSpPr/>
            <p:nvPr/>
          </p:nvSpPr>
          <p:spPr>
            <a:xfrm>
              <a:off x="8650224" y="822960"/>
              <a:ext cx="219456" cy="347472"/>
            </a:xfrm>
            <a:custGeom>
              <a:avLst/>
              <a:gdLst/>
              <a:ahLst/>
              <a:cxnLst/>
              <a:rect l="0" t="0" r="w" b="h"/>
              <a:pathLst>
                <a:path w="219456" h="347472" fill="norm" stroke="1">
                  <a:moveTo>
                    <a:pt x="0" y="219456"/>
                  </a:moveTo>
                  <a:lnTo>
                    <a:pt x="219456" y="0"/>
                  </a:lnTo>
                  <a:lnTo>
                    <a:pt x="219456" y="128016"/>
                  </a:lnTo>
                  <a:lnTo>
                    <a:pt x="0" y="347472"/>
                  </a:lnTo>
                  <a:close/>
                </a:path>
              </a:pathLst>
            </a:custGeom>
            <a:solidFill>
              <a:srgbClr val="126F97"/>
            </a:solidFill>
            <a:ln w="13970">
              <a:solidFill>
                <a:srgbClr val="126F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模型层-正面"/>
            <p:cNvSpPr/>
            <p:nvPr/>
          </p:nvSpPr>
          <p:spPr>
            <a:xfrm>
              <a:off x="8037576" y="1042416"/>
              <a:ext cx="612648" cy="128016"/>
            </a:xfrm>
            <a:prstGeom prst="rect">
              <a:avLst/>
            </a:prstGeom>
            <a:solidFill>
              <a:srgbClr val="1CB3D2"/>
            </a:solidFill>
            <a:ln w="15240">
              <a:solidFill>
                <a:srgbClr val="126F9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模型层-顶面"/>
            <p:cNvSpPr/>
            <p:nvPr/>
          </p:nvSpPr>
          <p:spPr>
            <a:xfrm>
              <a:off x="8037576" y="1051560"/>
              <a:ext cx="832104" cy="219456"/>
            </a:xfrm>
            <a:custGeom>
              <a:avLst/>
              <a:gdLst/>
              <a:ahLst/>
              <a:cxnLst/>
              <a:rect l="0" t="0" r="w" b="h"/>
              <a:pathLst>
                <a:path w="832104" h="219456" fill="norm" stroke="1">
                  <a:moveTo>
                    <a:pt x="0" y="219456"/>
                  </a:moveTo>
                  <a:lnTo>
                    <a:pt x="219456" y="0"/>
                  </a:lnTo>
                  <a:lnTo>
                    <a:pt x="832104" y="0"/>
                  </a:lnTo>
                  <a:lnTo>
                    <a:pt x="612648" y="219456"/>
                  </a:lnTo>
                  <a:close/>
                </a:path>
              </a:pathLst>
            </a:custGeom>
            <a:solidFill>
              <a:srgbClr val="C995FF"/>
            </a:solidFill>
            <a:ln w="15240">
              <a:solidFill>
                <a:srgbClr val="552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模型层-侧面"/>
            <p:cNvSpPr/>
            <p:nvPr/>
          </p:nvSpPr>
          <p:spPr>
            <a:xfrm>
              <a:off x="8650224" y="1051560"/>
              <a:ext cx="219456" cy="347472"/>
            </a:xfrm>
            <a:custGeom>
              <a:avLst/>
              <a:gdLst/>
              <a:ahLst/>
              <a:cxnLst/>
              <a:rect l="0" t="0" r="w" b="h"/>
              <a:pathLst>
                <a:path w="219456" h="347472" fill="norm" stroke="1">
                  <a:moveTo>
                    <a:pt x="0" y="219456"/>
                  </a:moveTo>
                  <a:lnTo>
                    <a:pt x="219456" y="0"/>
                  </a:lnTo>
                  <a:lnTo>
                    <a:pt x="219456" y="128016"/>
                  </a:lnTo>
                  <a:lnTo>
                    <a:pt x="0" y="347472"/>
                  </a:lnTo>
                  <a:close/>
                </a:path>
              </a:pathLst>
            </a:custGeom>
            <a:solidFill>
              <a:srgbClr val="552899"/>
            </a:solidFill>
            <a:ln w="13970">
              <a:solidFill>
                <a:srgbClr val="552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模型层-正面"/>
            <p:cNvSpPr/>
            <p:nvPr/>
          </p:nvSpPr>
          <p:spPr>
            <a:xfrm>
              <a:off x="8037576" y="1271016"/>
              <a:ext cx="612648" cy="128016"/>
            </a:xfrm>
            <a:prstGeom prst="rect">
              <a:avLst/>
            </a:prstGeom>
            <a:solidFill>
              <a:srgbClr val="8C48EA"/>
            </a:solidFill>
            <a:ln w="15240">
              <a:solidFill>
                <a:srgbClr val="552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3" name="Decide layer retention"/>
          <p:cNvSpPr txBox="1"/>
          <p:nvPr/>
        </p:nvSpPr>
        <p:spPr>
          <a:xfrm>
            <a:off x="7104888" y="1463040"/>
            <a:ext cx="28803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4162A"/>
                </a:solidFill>
                <a:latin typeface="Times New Roman"/>
              </a:rPr>
              <a:t>Decide layer retention</a:t>
            </a:r>
          </a:p>
        </p:txBody>
      </p:sp>
      <p:sp>
        <p:nvSpPr>
          <p:cNvPr id="104" name="Set per-model retention targets"/>
          <p:cNvSpPr txBox="1"/>
          <p:nvPr/>
        </p:nvSpPr>
        <p:spPr>
          <a:xfrm>
            <a:off x="7022592" y="1773936"/>
            <a:ext cx="304495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4162A"/>
                </a:solidFill>
                <a:latin typeface="Times New Roman"/>
              </a:rPr>
              <a:t>Set per-model retention targets</a:t>
            </a:r>
          </a:p>
        </p:txBody>
      </p:sp>
      <p:grpSp>
        <p:nvGrpSpPr>
          <p:cNvPr id="105" name="图标-执行保留目标的 GPU"/>
          <p:cNvGrpSpPr/>
          <p:nvPr/>
        </p:nvGrpSpPr>
        <p:grpSpPr>
          <a:xfrm>
            <a:off x="10424160" y="740664"/>
            <a:ext cx="1463911" cy="713232"/>
            <a:chOff x="10424160" y="740664"/>
            <a:chExt cx="1463911" cy="713232"/>
          </a:xfrm>
        </p:grpSpPr>
        <p:sp>
          <p:nvSpPr>
            <p:cNvPr id="106" name="矩形"/>
            <p:cNvSpPr/>
            <p:nvPr/>
          </p:nvSpPr>
          <p:spPr>
            <a:xfrm>
              <a:off x="10481288" y="1385674"/>
              <a:ext cx="664116" cy="37212"/>
            </a:xfrm>
            <a:prstGeom prst="rect">
              <a:avLst/>
            </a:prstGeom>
            <a:solidFill>
              <a:srgbClr val="C5A337"/>
            </a:solidFill>
            <a:ln w="9918">
              <a:solidFill>
                <a:srgbClr val="5A51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矩形"/>
            <p:cNvSpPr/>
            <p:nvPr/>
          </p:nvSpPr>
          <p:spPr>
            <a:xfrm>
              <a:off x="10531275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矩形"/>
            <p:cNvSpPr/>
            <p:nvPr/>
          </p:nvSpPr>
          <p:spPr>
            <a:xfrm>
              <a:off x="10588404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矩形"/>
            <p:cNvSpPr/>
            <p:nvPr/>
          </p:nvSpPr>
          <p:spPr>
            <a:xfrm>
              <a:off x="10645532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矩形"/>
            <p:cNvSpPr/>
            <p:nvPr/>
          </p:nvSpPr>
          <p:spPr>
            <a:xfrm>
              <a:off x="10702660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矩形"/>
            <p:cNvSpPr/>
            <p:nvPr/>
          </p:nvSpPr>
          <p:spPr>
            <a:xfrm>
              <a:off x="10759788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矩形"/>
            <p:cNvSpPr/>
            <p:nvPr/>
          </p:nvSpPr>
          <p:spPr>
            <a:xfrm>
              <a:off x="10816917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矩形"/>
            <p:cNvSpPr/>
            <p:nvPr/>
          </p:nvSpPr>
          <p:spPr>
            <a:xfrm>
              <a:off x="10874045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矩形"/>
            <p:cNvSpPr/>
            <p:nvPr/>
          </p:nvSpPr>
          <p:spPr>
            <a:xfrm>
              <a:off x="10931173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矩形"/>
            <p:cNvSpPr/>
            <p:nvPr/>
          </p:nvSpPr>
          <p:spPr>
            <a:xfrm>
              <a:off x="10988301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矩形"/>
            <p:cNvSpPr/>
            <p:nvPr/>
          </p:nvSpPr>
          <p:spPr>
            <a:xfrm>
              <a:off x="11045429" y="1385674"/>
              <a:ext cx="28564" cy="37212"/>
            </a:xfrm>
            <a:prstGeom prst="rect">
              <a:avLst/>
            </a:prstGeom>
            <a:solidFill>
              <a:srgbClr val="E4C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矩形"/>
            <p:cNvSpPr/>
            <p:nvPr/>
          </p:nvSpPr>
          <p:spPr>
            <a:xfrm>
              <a:off x="10481288" y="796482"/>
              <a:ext cx="1406783" cy="576788"/>
            </a:xfrm>
            <a:prstGeom prst="roundRect">
              <a:avLst>
                <a:gd name="adj" fmla="val 10000"/>
              </a:avLst>
            </a:prstGeom>
            <a:solidFill>
              <a:srgbClr val="F0F1F0"/>
            </a:solidFill>
            <a:ln w="9918">
              <a:solidFill>
                <a:srgbClr val="1517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GPU-金属上盖"/>
            <p:cNvSpPr/>
            <p:nvPr/>
          </p:nvSpPr>
          <p:spPr>
            <a:xfrm>
              <a:off x="10566981" y="808886"/>
              <a:ext cx="1256821" cy="210869"/>
            </a:xfrm>
            <a:custGeom>
              <a:avLst/>
              <a:gdLst/>
              <a:ahLst/>
              <a:cxnLst/>
              <a:rect l="0" t="0" r="w" b="h"/>
              <a:pathLst>
                <a:path w="1256821" h="210869" fill="norm" stroke="0">
                  <a:moveTo>
                    <a:pt x="0" y="0"/>
                  </a:moveTo>
                  <a:lnTo>
                    <a:pt x="421321" y="0"/>
                  </a:lnTo>
                  <a:lnTo>
                    <a:pt x="642693" y="142646"/>
                  </a:lnTo>
                  <a:lnTo>
                    <a:pt x="856923" y="0"/>
                  </a:lnTo>
                  <a:lnTo>
                    <a:pt x="1256821" y="0"/>
                  </a:lnTo>
                  <a:lnTo>
                    <a:pt x="1156847" y="74424"/>
                  </a:lnTo>
                  <a:lnTo>
                    <a:pt x="871205" y="86828"/>
                  </a:lnTo>
                  <a:lnTo>
                    <a:pt x="642693" y="210869"/>
                  </a:lnTo>
                  <a:lnTo>
                    <a:pt x="392757" y="93030"/>
                  </a:lnTo>
                  <a:lnTo>
                    <a:pt x="35705" y="80626"/>
                  </a:lnTo>
                  <a:close/>
                </a:path>
              </a:pathLst>
            </a:custGeom>
            <a:solidFill>
              <a:srgbClr val="767B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GPU-金属下盖"/>
            <p:cNvSpPr/>
            <p:nvPr/>
          </p:nvSpPr>
          <p:spPr>
            <a:xfrm>
              <a:off x="10581263" y="1143795"/>
              <a:ext cx="1228257" cy="223273"/>
            </a:xfrm>
            <a:custGeom>
              <a:avLst/>
              <a:gdLst/>
              <a:ahLst/>
              <a:cxnLst/>
              <a:rect l="0" t="0" r="w" b="h"/>
              <a:pathLst>
                <a:path w="1228257" h="223273" fill="norm" stroke="0">
                  <a:moveTo>
                    <a:pt x="0" y="130242"/>
                  </a:moveTo>
                  <a:lnTo>
                    <a:pt x="392757" y="130242"/>
                  </a:lnTo>
                  <a:lnTo>
                    <a:pt x="606987" y="0"/>
                  </a:lnTo>
                  <a:lnTo>
                    <a:pt x="849782" y="142646"/>
                  </a:lnTo>
                  <a:lnTo>
                    <a:pt x="1228257" y="142646"/>
                  </a:lnTo>
                  <a:lnTo>
                    <a:pt x="1128283" y="217071"/>
                  </a:lnTo>
                  <a:lnTo>
                    <a:pt x="856923" y="217071"/>
                  </a:lnTo>
                  <a:lnTo>
                    <a:pt x="614128" y="105434"/>
                  </a:lnTo>
                  <a:lnTo>
                    <a:pt x="385616" y="223273"/>
                  </a:lnTo>
                  <a:lnTo>
                    <a:pt x="0" y="217071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GPU-风扇外圈"/>
            <p:cNvSpPr/>
            <p:nvPr/>
          </p:nvSpPr>
          <p:spPr>
            <a:xfrm>
              <a:off x="10609827" y="839896"/>
              <a:ext cx="557000" cy="483757"/>
            </a:xfrm>
            <a:prstGeom prst="ellipse">
              <a:avLst/>
            </a:prstGeom>
            <a:solidFill>
              <a:srgbClr val="161B1E"/>
            </a:solidFill>
            <a:ln w="10909">
              <a:solidFill>
                <a:srgbClr val="474C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GPU-风扇底盘"/>
            <p:cNvSpPr/>
            <p:nvPr/>
          </p:nvSpPr>
          <p:spPr>
            <a:xfrm>
              <a:off x="10645532" y="870906"/>
              <a:ext cx="485590" cy="421737"/>
            </a:xfrm>
            <a:prstGeom prst="ellipse">
              <a:avLst/>
            </a:prstGeom>
            <a:solidFill>
              <a:srgbClr val="2E33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GPU-风扇叶片"/>
            <p:cNvSpPr/>
            <p:nvPr/>
          </p:nvSpPr>
          <p:spPr>
            <a:xfrm rot="2640000">
              <a:off x="10945455" y="1032159"/>
              <a:ext cx="171385" cy="99232"/>
            </a:xfrm>
            <a:prstGeom prst="ellipse">
              <a:avLst/>
            </a:prstGeom>
            <a:solidFill>
              <a:srgbClr val="687074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GPU-风扇叶片"/>
            <p:cNvSpPr/>
            <p:nvPr/>
          </p:nvSpPr>
          <p:spPr>
            <a:xfrm rot="5725714">
              <a:off x="10891682" y="1129137"/>
              <a:ext cx="171385" cy="99232"/>
            </a:xfrm>
            <a:prstGeom prst="ellipse">
              <a:avLst/>
            </a:prstGeom>
            <a:solidFill>
              <a:srgbClr val="8E9699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GPU-风扇叶片"/>
            <p:cNvSpPr/>
            <p:nvPr/>
          </p:nvSpPr>
          <p:spPr>
            <a:xfrm rot="8811429">
              <a:off x="10770854" y="1153089"/>
              <a:ext cx="171385" cy="99232"/>
            </a:xfrm>
            <a:prstGeom prst="ellipse">
              <a:avLst/>
            </a:prstGeom>
            <a:solidFill>
              <a:srgbClr val="62696D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GPU-风扇叶片"/>
            <p:cNvSpPr/>
            <p:nvPr/>
          </p:nvSpPr>
          <p:spPr>
            <a:xfrm rot="11897143">
              <a:off x="10673958" y="1085978"/>
              <a:ext cx="171385" cy="99232"/>
            </a:xfrm>
            <a:prstGeom prst="ellipse">
              <a:avLst/>
            </a:prstGeom>
            <a:solidFill>
              <a:srgbClr val="687074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GPU-风扇叶片"/>
            <p:cNvSpPr/>
            <p:nvPr/>
          </p:nvSpPr>
          <p:spPr>
            <a:xfrm rot="14982857">
              <a:off x="10673958" y="978340"/>
              <a:ext cx="171385" cy="99232"/>
            </a:xfrm>
            <a:prstGeom prst="ellipse">
              <a:avLst/>
            </a:prstGeom>
            <a:solidFill>
              <a:srgbClr val="8E9699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GPU-风扇叶片"/>
            <p:cNvSpPr/>
            <p:nvPr/>
          </p:nvSpPr>
          <p:spPr>
            <a:xfrm rot="18068571">
              <a:off x="10770854" y="911228"/>
              <a:ext cx="171385" cy="99232"/>
            </a:xfrm>
            <a:prstGeom prst="ellipse">
              <a:avLst/>
            </a:prstGeom>
            <a:solidFill>
              <a:srgbClr val="62696D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GPU-风扇叶片"/>
            <p:cNvSpPr/>
            <p:nvPr/>
          </p:nvSpPr>
          <p:spPr>
            <a:xfrm rot="21154286">
              <a:off x="10891682" y="935180"/>
              <a:ext cx="171385" cy="99232"/>
            </a:xfrm>
            <a:prstGeom prst="ellipse">
              <a:avLst/>
            </a:prstGeom>
            <a:solidFill>
              <a:srgbClr val="687074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GPU-风扇中心"/>
            <p:cNvSpPr/>
            <p:nvPr/>
          </p:nvSpPr>
          <p:spPr>
            <a:xfrm>
              <a:off x="10802635" y="1007351"/>
              <a:ext cx="171385" cy="148848"/>
            </a:xfrm>
            <a:prstGeom prst="ellipse">
              <a:avLst/>
            </a:prstGeom>
            <a:solidFill>
              <a:srgbClr val="BFC5C7"/>
            </a:solidFill>
            <a:ln w="9918">
              <a:solidFill>
                <a:srgbClr val="0A0F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GPU-中心高光"/>
            <p:cNvSpPr/>
            <p:nvPr/>
          </p:nvSpPr>
          <p:spPr>
            <a:xfrm>
              <a:off x="10838340" y="1038361"/>
              <a:ext cx="99974" cy="86828"/>
            </a:xfrm>
            <a:prstGeom prst="ellipse">
              <a:avLst/>
            </a:prstGeom>
            <a:solidFill>
              <a:srgbClr val="E9E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GPU-风扇外圈"/>
            <p:cNvSpPr/>
            <p:nvPr/>
          </p:nvSpPr>
          <p:spPr>
            <a:xfrm>
              <a:off x="11238237" y="839896"/>
              <a:ext cx="557000" cy="483757"/>
            </a:xfrm>
            <a:prstGeom prst="ellipse">
              <a:avLst/>
            </a:prstGeom>
            <a:solidFill>
              <a:srgbClr val="161B1E"/>
            </a:solidFill>
            <a:ln w="10909">
              <a:solidFill>
                <a:srgbClr val="474C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GPU-风扇底盘"/>
            <p:cNvSpPr/>
            <p:nvPr/>
          </p:nvSpPr>
          <p:spPr>
            <a:xfrm>
              <a:off x="11273942" y="870906"/>
              <a:ext cx="485590" cy="421737"/>
            </a:xfrm>
            <a:prstGeom prst="ellipse">
              <a:avLst/>
            </a:prstGeom>
            <a:solidFill>
              <a:srgbClr val="2E33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GPU-风扇叶片"/>
            <p:cNvSpPr/>
            <p:nvPr/>
          </p:nvSpPr>
          <p:spPr>
            <a:xfrm rot="2640000">
              <a:off x="11573866" y="1032159"/>
              <a:ext cx="171385" cy="99232"/>
            </a:xfrm>
            <a:prstGeom prst="ellipse">
              <a:avLst/>
            </a:prstGeom>
            <a:solidFill>
              <a:srgbClr val="687074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GPU-风扇叶片"/>
            <p:cNvSpPr/>
            <p:nvPr/>
          </p:nvSpPr>
          <p:spPr>
            <a:xfrm rot="5725714">
              <a:off x="11520092" y="1129137"/>
              <a:ext cx="171385" cy="99232"/>
            </a:xfrm>
            <a:prstGeom prst="ellipse">
              <a:avLst/>
            </a:prstGeom>
            <a:solidFill>
              <a:srgbClr val="8E9699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GPU-风扇叶片"/>
            <p:cNvSpPr/>
            <p:nvPr/>
          </p:nvSpPr>
          <p:spPr>
            <a:xfrm rot="8811429">
              <a:off x="11399264" y="1153089"/>
              <a:ext cx="171385" cy="99232"/>
            </a:xfrm>
            <a:prstGeom prst="ellipse">
              <a:avLst/>
            </a:prstGeom>
            <a:solidFill>
              <a:srgbClr val="62696D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GPU-风扇叶片"/>
            <p:cNvSpPr/>
            <p:nvPr/>
          </p:nvSpPr>
          <p:spPr>
            <a:xfrm rot="11897143">
              <a:off x="11302368" y="1085978"/>
              <a:ext cx="171385" cy="99232"/>
            </a:xfrm>
            <a:prstGeom prst="ellipse">
              <a:avLst/>
            </a:prstGeom>
            <a:solidFill>
              <a:srgbClr val="687074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GPU-风扇叶片"/>
            <p:cNvSpPr/>
            <p:nvPr/>
          </p:nvSpPr>
          <p:spPr>
            <a:xfrm rot="14982857">
              <a:off x="11302368" y="978340"/>
              <a:ext cx="171385" cy="99232"/>
            </a:xfrm>
            <a:prstGeom prst="ellipse">
              <a:avLst/>
            </a:prstGeom>
            <a:solidFill>
              <a:srgbClr val="8E9699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GPU-风扇叶片"/>
            <p:cNvSpPr/>
            <p:nvPr/>
          </p:nvSpPr>
          <p:spPr>
            <a:xfrm rot="18068571">
              <a:off x="11399264" y="911228"/>
              <a:ext cx="171385" cy="99232"/>
            </a:xfrm>
            <a:prstGeom prst="ellipse">
              <a:avLst/>
            </a:prstGeom>
            <a:solidFill>
              <a:srgbClr val="62696D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GPU-风扇叶片"/>
            <p:cNvSpPr/>
            <p:nvPr/>
          </p:nvSpPr>
          <p:spPr>
            <a:xfrm rot="21154286">
              <a:off x="11520092" y="935180"/>
              <a:ext cx="171385" cy="99232"/>
            </a:xfrm>
            <a:prstGeom prst="ellipse">
              <a:avLst/>
            </a:prstGeom>
            <a:solidFill>
              <a:srgbClr val="687074"/>
            </a:solidFill>
            <a:ln w="6446">
              <a:solidFill>
                <a:srgbClr val="0C11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GPU-风扇中心"/>
            <p:cNvSpPr/>
            <p:nvPr/>
          </p:nvSpPr>
          <p:spPr>
            <a:xfrm>
              <a:off x="11431045" y="1007351"/>
              <a:ext cx="171385" cy="148848"/>
            </a:xfrm>
            <a:prstGeom prst="ellipse">
              <a:avLst/>
            </a:prstGeom>
            <a:solidFill>
              <a:srgbClr val="BFC5C7"/>
            </a:solidFill>
            <a:ln w="9918">
              <a:solidFill>
                <a:srgbClr val="0A0F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GPU-中心高光"/>
            <p:cNvSpPr/>
            <p:nvPr/>
          </p:nvSpPr>
          <p:spPr>
            <a:xfrm>
              <a:off x="11466750" y="1038361"/>
              <a:ext cx="99974" cy="86828"/>
            </a:xfrm>
            <a:prstGeom prst="ellipse">
              <a:avLst/>
            </a:prstGeom>
            <a:solidFill>
              <a:srgbClr val="E9E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矩形"/>
            <p:cNvSpPr/>
            <p:nvPr/>
          </p:nvSpPr>
          <p:spPr>
            <a:xfrm>
              <a:off x="10488429" y="740664"/>
              <a:ext cx="42846" cy="713232"/>
            </a:xfrm>
            <a:prstGeom prst="rect">
              <a:avLst/>
            </a:prstGeom>
            <a:solidFill>
              <a:srgbClr val="858985"/>
            </a:solidFill>
            <a:ln w="9918">
              <a:solidFill>
                <a:srgbClr val="1517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矩形"/>
            <p:cNvSpPr/>
            <p:nvPr/>
          </p:nvSpPr>
          <p:spPr>
            <a:xfrm>
              <a:off x="10424160" y="846098"/>
              <a:ext cx="64269" cy="74424"/>
            </a:xfrm>
            <a:prstGeom prst="rect">
              <a:avLst/>
            </a:prstGeom>
            <a:solidFill>
              <a:srgbClr val="737974"/>
            </a:solidFill>
            <a:ln w="9918">
              <a:solidFill>
                <a:srgbClr val="1517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矩形"/>
            <p:cNvSpPr/>
            <p:nvPr/>
          </p:nvSpPr>
          <p:spPr>
            <a:xfrm>
              <a:off x="10438442" y="1243027"/>
              <a:ext cx="57128" cy="68222"/>
            </a:xfrm>
            <a:prstGeom prst="rect">
              <a:avLst/>
            </a:prstGeom>
            <a:solidFill>
              <a:srgbClr val="737974"/>
            </a:solidFill>
            <a:ln w="9918">
              <a:solidFill>
                <a:srgbClr val="1517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矩形"/>
            <p:cNvSpPr/>
            <p:nvPr/>
          </p:nvSpPr>
          <p:spPr>
            <a:xfrm>
              <a:off x="11816661" y="883310"/>
              <a:ext cx="57128" cy="31010"/>
            </a:xfrm>
            <a:prstGeom prst="rect">
              <a:avLst/>
            </a:prstGeom>
            <a:solidFill>
              <a:srgbClr val="393E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矩形"/>
            <p:cNvSpPr/>
            <p:nvPr/>
          </p:nvSpPr>
          <p:spPr>
            <a:xfrm>
              <a:off x="11816661" y="994947"/>
              <a:ext cx="57128" cy="31010"/>
            </a:xfrm>
            <a:prstGeom prst="rect">
              <a:avLst/>
            </a:prstGeom>
            <a:solidFill>
              <a:srgbClr val="393E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矩形"/>
            <p:cNvSpPr/>
            <p:nvPr/>
          </p:nvSpPr>
          <p:spPr>
            <a:xfrm>
              <a:off x="11816661" y="1106583"/>
              <a:ext cx="57128" cy="31010"/>
            </a:xfrm>
            <a:prstGeom prst="rect">
              <a:avLst/>
            </a:prstGeom>
            <a:solidFill>
              <a:srgbClr val="393E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矩形"/>
            <p:cNvSpPr/>
            <p:nvPr/>
          </p:nvSpPr>
          <p:spPr>
            <a:xfrm>
              <a:off x="11816661" y="1218219"/>
              <a:ext cx="57128" cy="31010"/>
            </a:xfrm>
            <a:prstGeom prst="rect">
              <a:avLst/>
            </a:prstGeom>
            <a:solidFill>
              <a:srgbClr val="393E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9" name="图标-层保留与预取"/>
          <p:cNvGrpSpPr/>
          <p:nvPr/>
        </p:nvGrpSpPr>
        <p:grpSpPr>
          <a:xfrm>
            <a:off x="12024360" y="621792"/>
            <a:ext cx="1389888" cy="822960"/>
            <a:chOff x="12024360" y="621792"/>
            <a:chExt cx="1389888" cy="822960"/>
          </a:xfrm>
        </p:grpSpPr>
        <p:sp>
          <p:nvSpPr>
            <p:cNvPr id="150" name="模型层-顶面"/>
            <p:cNvSpPr/>
            <p:nvPr/>
          </p:nvSpPr>
          <p:spPr>
            <a:xfrm>
              <a:off x="12829032" y="621792"/>
              <a:ext cx="585216" cy="137160"/>
            </a:xfrm>
            <a:custGeom>
              <a:avLst/>
              <a:gdLst/>
              <a:ahLst/>
              <a:cxnLst/>
              <a:rect l="0" t="0" r="w" b="h"/>
              <a:pathLst>
                <a:path w="585216" h="137160" fill="norm" stroke="1">
                  <a:moveTo>
                    <a:pt x="0" y="137160"/>
                  </a:moveTo>
                  <a:lnTo>
                    <a:pt x="137160" y="0"/>
                  </a:lnTo>
                  <a:lnTo>
                    <a:pt x="585216" y="0"/>
                  </a:lnTo>
                  <a:lnTo>
                    <a:pt x="448056" y="137160"/>
                  </a:lnTo>
                  <a:close/>
                </a:path>
              </a:pathLst>
            </a:custGeom>
            <a:solidFill>
              <a:srgbClr val="ABF0EA"/>
            </a:solidFill>
            <a:ln w="15240">
              <a:solidFill>
                <a:srgbClr val="149C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模型层-侧面"/>
            <p:cNvSpPr/>
            <p:nvPr/>
          </p:nvSpPr>
          <p:spPr>
            <a:xfrm>
              <a:off x="13277088" y="621792"/>
              <a:ext cx="137160" cy="274320"/>
            </a:xfrm>
            <a:custGeom>
              <a:avLst/>
              <a:gdLst/>
              <a:ahLst/>
              <a:cxnLst/>
              <a:rect l="0" t="0" r="w" b="h"/>
              <a:pathLst>
                <a:path w="137160" h="274320" fill="norm" stroke="1">
                  <a:moveTo>
                    <a:pt x="0" y="137160"/>
                  </a:moveTo>
                  <a:lnTo>
                    <a:pt x="137160" y="0"/>
                  </a:lnTo>
                  <a:lnTo>
                    <a:pt x="137160" y="13716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149CA7"/>
            </a:solidFill>
            <a:ln w="13970">
              <a:solidFill>
                <a:srgbClr val="149C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模型层-正面"/>
            <p:cNvSpPr/>
            <p:nvPr/>
          </p:nvSpPr>
          <p:spPr>
            <a:xfrm>
              <a:off x="12829032" y="758952"/>
              <a:ext cx="448056" cy="137160"/>
            </a:xfrm>
            <a:prstGeom prst="rect">
              <a:avLst/>
            </a:prstGeom>
            <a:solidFill>
              <a:srgbClr val="53D3D1"/>
            </a:solidFill>
            <a:ln w="15240">
              <a:solidFill>
                <a:srgbClr val="149C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3" name="连接线"/>
            <p:cNvCxnSpPr/>
            <p:nvPr/>
          </p:nvCxnSpPr>
          <p:spPr>
            <a:xfrm>
              <a:off x="12024360" y="841248"/>
              <a:ext cx="649224" cy="0"/>
            </a:xfrm>
            <a:prstGeom prst="line">
              <a:avLst/>
            </a:prstGeom>
            <a:ln w="19050">
              <a:solidFill>
                <a:srgbClr val="151719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模型层-顶面"/>
            <p:cNvSpPr/>
            <p:nvPr/>
          </p:nvSpPr>
          <p:spPr>
            <a:xfrm>
              <a:off x="12829032" y="896112"/>
              <a:ext cx="585216" cy="137160"/>
            </a:xfrm>
            <a:custGeom>
              <a:avLst/>
              <a:gdLst/>
              <a:ahLst/>
              <a:cxnLst/>
              <a:rect l="0" t="0" r="w" b="h"/>
              <a:pathLst>
                <a:path w="585216" h="137160" fill="norm" stroke="1">
                  <a:moveTo>
                    <a:pt x="0" y="137160"/>
                  </a:moveTo>
                  <a:lnTo>
                    <a:pt x="137160" y="0"/>
                  </a:lnTo>
                  <a:lnTo>
                    <a:pt x="585216" y="0"/>
                  </a:lnTo>
                  <a:lnTo>
                    <a:pt x="448056" y="137160"/>
                  </a:lnTo>
                  <a:close/>
                </a:path>
              </a:pathLst>
            </a:custGeom>
            <a:solidFill>
              <a:srgbClr val="C9A8FC"/>
            </a:solidFill>
            <a:ln w="15240">
              <a:solidFill>
                <a:srgbClr val="6432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模型层-侧面"/>
            <p:cNvSpPr/>
            <p:nvPr/>
          </p:nvSpPr>
          <p:spPr>
            <a:xfrm>
              <a:off x="13277088" y="896112"/>
              <a:ext cx="137160" cy="274320"/>
            </a:xfrm>
            <a:custGeom>
              <a:avLst/>
              <a:gdLst/>
              <a:ahLst/>
              <a:cxnLst/>
              <a:rect l="0" t="0" r="w" b="h"/>
              <a:pathLst>
                <a:path w="137160" h="274320" fill="norm" stroke="1">
                  <a:moveTo>
                    <a:pt x="0" y="137160"/>
                  </a:moveTo>
                  <a:lnTo>
                    <a:pt x="137160" y="0"/>
                  </a:lnTo>
                  <a:lnTo>
                    <a:pt x="137160" y="13716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6432A0"/>
            </a:solidFill>
            <a:ln w="13970">
              <a:solidFill>
                <a:srgbClr val="6432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模型层-正面"/>
            <p:cNvSpPr/>
            <p:nvPr/>
          </p:nvSpPr>
          <p:spPr>
            <a:xfrm>
              <a:off x="12829032" y="1033272"/>
              <a:ext cx="448056" cy="137160"/>
            </a:xfrm>
            <a:prstGeom prst="rect">
              <a:avLst/>
            </a:prstGeom>
            <a:solidFill>
              <a:srgbClr val="9C58F5"/>
            </a:solidFill>
            <a:ln w="15240">
              <a:solidFill>
                <a:srgbClr val="6432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7" name="连接线"/>
            <p:cNvCxnSpPr/>
            <p:nvPr/>
          </p:nvCxnSpPr>
          <p:spPr>
            <a:xfrm flipH="1">
              <a:off x="12024360" y="1078992"/>
              <a:ext cx="649224" cy="0"/>
            </a:xfrm>
            <a:prstGeom prst="line">
              <a:avLst/>
            </a:prstGeom>
            <a:ln w="19050">
              <a:solidFill>
                <a:srgbClr val="151719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模型层-顶面"/>
            <p:cNvSpPr/>
            <p:nvPr/>
          </p:nvSpPr>
          <p:spPr>
            <a:xfrm>
              <a:off x="12829032" y="1170432"/>
              <a:ext cx="585216" cy="137160"/>
            </a:xfrm>
            <a:custGeom>
              <a:avLst/>
              <a:gdLst/>
              <a:ahLst/>
              <a:cxnLst/>
              <a:rect l="0" t="0" r="w" b="h"/>
              <a:pathLst>
                <a:path w="585216" h="137160" fill="norm" stroke="1">
                  <a:moveTo>
                    <a:pt x="0" y="137160"/>
                  </a:moveTo>
                  <a:lnTo>
                    <a:pt x="137160" y="0"/>
                  </a:lnTo>
                  <a:lnTo>
                    <a:pt x="585216" y="0"/>
                  </a:lnTo>
                  <a:lnTo>
                    <a:pt x="448056" y="137160"/>
                  </a:lnTo>
                  <a:close/>
                </a:path>
              </a:pathLst>
            </a:custGeom>
            <a:solidFill>
              <a:srgbClr val="FFE6AD"/>
            </a:solidFill>
            <a:ln w="15240">
              <a:solidFill>
                <a:srgbClr val="D994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模型层-侧面"/>
            <p:cNvSpPr/>
            <p:nvPr/>
          </p:nvSpPr>
          <p:spPr>
            <a:xfrm>
              <a:off x="13277088" y="1170432"/>
              <a:ext cx="137160" cy="274320"/>
            </a:xfrm>
            <a:custGeom>
              <a:avLst/>
              <a:gdLst/>
              <a:ahLst/>
              <a:cxnLst/>
              <a:rect l="0" t="0" r="w" b="h"/>
              <a:pathLst>
                <a:path w="137160" h="274320" fill="norm" stroke="1">
                  <a:moveTo>
                    <a:pt x="0" y="137160"/>
                  </a:moveTo>
                  <a:lnTo>
                    <a:pt x="137160" y="0"/>
                  </a:lnTo>
                  <a:lnTo>
                    <a:pt x="137160" y="13716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D99429"/>
            </a:solidFill>
            <a:ln w="13970">
              <a:solidFill>
                <a:srgbClr val="D994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模型层-正面"/>
            <p:cNvSpPr/>
            <p:nvPr/>
          </p:nvSpPr>
          <p:spPr>
            <a:xfrm>
              <a:off x="12829032" y="1307592"/>
              <a:ext cx="448056" cy="137160"/>
            </a:xfrm>
            <a:prstGeom prst="rect">
              <a:avLst/>
            </a:prstGeom>
            <a:solidFill>
              <a:srgbClr val="FFCF6D"/>
            </a:solidFill>
            <a:ln w="15240">
              <a:solidFill>
                <a:srgbClr val="D994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1" name="连接线"/>
            <p:cNvCxnSpPr/>
            <p:nvPr/>
          </p:nvCxnSpPr>
          <p:spPr>
            <a:xfrm>
              <a:off x="12024360" y="1389888"/>
              <a:ext cx="649224" cy="0"/>
            </a:xfrm>
            <a:prstGeom prst="line">
              <a:avLst/>
            </a:prstGeom>
            <a:ln w="19050">
              <a:solidFill>
                <a:srgbClr val="151719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Apply retention targets"/>
          <p:cNvSpPr txBox="1"/>
          <p:nvPr/>
        </p:nvSpPr>
        <p:spPr>
          <a:xfrm>
            <a:off x="10149840" y="1481328"/>
            <a:ext cx="3867912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4162A"/>
                </a:solidFill>
                <a:latin typeface="Times New Roman"/>
              </a:rPr>
              <a:t>Apply retention targets</a:t>
            </a:r>
          </a:p>
        </p:txBody>
      </p:sp>
      <p:sp>
        <p:nvSpPr>
          <p:cNvPr id="163" name="Unload, retain or prefetch layers"/>
          <p:cNvSpPr txBox="1"/>
          <p:nvPr/>
        </p:nvSpPr>
        <p:spPr>
          <a:xfrm>
            <a:off x="9957816" y="1810512"/>
            <a:ext cx="41148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4162A"/>
                </a:solidFill>
                <a:latin typeface="Times New Roman"/>
              </a:rPr>
              <a:t>Unload, retain or prefetch layers</a:t>
            </a:r>
          </a:p>
        </p:txBody>
      </p:sp>
      <p:sp>
        <p:nvSpPr>
          <p:cNvPr id="164" name="Memory capacity and minimum-residency constraints"/>
          <p:cNvSpPr txBox="1"/>
          <p:nvPr/>
        </p:nvSpPr>
        <p:spPr>
          <a:xfrm>
            <a:off x="9820656" y="2057400"/>
            <a:ext cx="44805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14162A"/>
                </a:solidFill>
                <a:latin typeface="Times New Roman"/>
              </a:rPr>
              <a:t>Memory capacity and minimum-residency constraints</a:t>
            </a:r>
          </a:p>
        </p:txBody>
      </p:sp>
      <p:cxnSp>
        <p:nvCxnSpPr>
          <p:cNvPr id="165" name="长时标流程轴"/>
          <p:cNvCxnSpPr/>
          <p:nvPr/>
        </p:nvCxnSpPr>
        <p:spPr>
          <a:xfrm>
            <a:off x="4059936" y="2724912"/>
            <a:ext cx="9774936" cy="0"/>
          </a:xfrm>
          <a:prstGeom prst="line">
            <a:avLst/>
          </a:prstGeom>
          <a:ln w="21590">
            <a:solidFill>
              <a:srgbClr val="15171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连接线"/>
          <p:cNvCxnSpPr/>
          <p:nvPr/>
        </p:nvCxnSpPr>
        <p:spPr>
          <a:xfrm>
            <a:off x="4059936" y="2478024"/>
            <a:ext cx="0" cy="246888"/>
          </a:xfrm>
          <a:prstGeom prst="line">
            <a:avLst/>
          </a:prstGeom>
          <a:ln w="2159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连接线"/>
          <p:cNvCxnSpPr/>
          <p:nvPr/>
        </p:nvCxnSpPr>
        <p:spPr>
          <a:xfrm>
            <a:off x="5422392" y="2578608"/>
            <a:ext cx="0" cy="146304"/>
          </a:xfrm>
          <a:prstGeom prst="line">
            <a:avLst/>
          </a:prstGeom>
          <a:ln w="2032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1"/>
          <p:cNvSpPr txBox="1"/>
          <p:nvPr/>
        </p:nvSpPr>
        <p:spPr>
          <a:xfrm>
            <a:off x="5239512" y="2280331"/>
            <a:ext cx="365760" cy="294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4162A"/>
                </a:solidFill>
                <a:latin typeface="Times New Roman"/>
              </a:rPr>
              <a:t>1</a:t>
            </a:r>
          </a:p>
        </p:txBody>
      </p:sp>
      <p:cxnSp>
        <p:nvCxnSpPr>
          <p:cNvPr id="169" name="连接线"/>
          <p:cNvCxnSpPr/>
          <p:nvPr/>
        </p:nvCxnSpPr>
        <p:spPr>
          <a:xfrm>
            <a:off x="8531352" y="2578608"/>
            <a:ext cx="0" cy="146304"/>
          </a:xfrm>
          <a:prstGeom prst="line">
            <a:avLst/>
          </a:prstGeom>
          <a:ln w="2032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2"/>
          <p:cNvSpPr txBox="1"/>
          <p:nvPr/>
        </p:nvSpPr>
        <p:spPr>
          <a:xfrm>
            <a:off x="8348472" y="2280331"/>
            <a:ext cx="365760" cy="294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4162A"/>
                </a:solidFill>
                <a:latin typeface="Times New Roman"/>
              </a:rPr>
              <a:t>2</a:t>
            </a:r>
          </a:p>
        </p:txBody>
      </p:sp>
      <p:cxnSp>
        <p:nvCxnSpPr>
          <p:cNvPr id="171" name="连接线"/>
          <p:cNvCxnSpPr/>
          <p:nvPr/>
        </p:nvCxnSpPr>
        <p:spPr>
          <a:xfrm>
            <a:off x="12070080" y="2578608"/>
            <a:ext cx="0" cy="146304"/>
          </a:xfrm>
          <a:prstGeom prst="line">
            <a:avLst/>
          </a:prstGeom>
          <a:ln w="2032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3"/>
          <p:cNvSpPr txBox="1"/>
          <p:nvPr/>
        </p:nvSpPr>
        <p:spPr>
          <a:xfrm>
            <a:off x="11887200" y="2280331"/>
            <a:ext cx="365760" cy="294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4162A"/>
                </a:solidFill>
                <a:latin typeface="Times New Roman"/>
              </a:rPr>
              <a:t>3</a:t>
            </a:r>
          </a:p>
        </p:txBody>
      </p:sp>
      <p:sp>
        <p:nvSpPr>
          <p:cNvPr id="173" name="长时标流程括号"/>
          <p:cNvSpPr/>
          <p:nvPr/>
        </p:nvSpPr>
        <p:spPr>
          <a:xfrm>
            <a:off x="4123944" y="2843784"/>
            <a:ext cx="9317736" cy="146304"/>
          </a:xfrm>
          <a:custGeom>
            <a:avLst/>
            <a:gdLst/>
            <a:ahLst/>
            <a:cxnLst/>
            <a:rect l="0" t="0" r="w" b="h"/>
            <a:pathLst>
              <a:path w="9317736" h="146304" fill="none" stroke="1">
                <a:moveTo>
                  <a:pt x="0" y="0"/>
                </a:moveTo>
                <a:cubicBezTo>
                  <a:pt x="0" y="146304"/>
                  <a:pt x="0" y="146304"/>
                  <a:pt x="82296" y="146304"/>
                </a:cubicBezTo>
                <a:lnTo>
                  <a:pt x="4585716" y="146304"/>
                </a:lnTo>
                <a:cubicBezTo>
                  <a:pt x="4658868" y="146304"/>
                  <a:pt x="4658868" y="146304"/>
                  <a:pt x="4658868" y="0"/>
                </a:cubicBezTo>
                <a:cubicBezTo>
                  <a:pt x="4658868" y="146304"/>
                  <a:pt x="4658868" y="146304"/>
                  <a:pt x="4732020" y="146304"/>
                </a:cubicBezTo>
                <a:lnTo>
                  <a:pt x="9235440" y="146304"/>
                </a:lnTo>
                <a:cubicBezTo>
                  <a:pt x="9317736" y="146304"/>
                  <a:pt x="9317736" y="146304"/>
                  <a:pt x="9317736" y="0"/>
                </a:cubicBezTo>
              </a:path>
            </a:pathLst>
          </a:custGeom>
          <a:noFill/>
          <a:ln w="21590">
            <a:solidFill>
              <a:srgbClr val="087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tention targets updated at each epoch boundary"/>
          <p:cNvSpPr txBox="1"/>
          <p:nvPr/>
        </p:nvSpPr>
        <p:spPr>
          <a:xfrm>
            <a:off x="5440680" y="3035808"/>
            <a:ext cx="728776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14162A"/>
                </a:solidFill>
                <a:latin typeface="Times New Roman"/>
              </a:rPr>
              <a:t>Retention targets updated at each epoch boundary</a:t>
            </a:r>
          </a:p>
        </p:txBody>
      </p:sp>
      <p:sp>
        <p:nvSpPr>
          <p:cNvPr id="175" name="展开一个 epoch"/>
          <p:cNvSpPr/>
          <p:nvPr/>
        </p:nvSpPr>
        <p:spPr>
          <a:xfrm>
            <a:off x="2705623" y="2999232"/>
            <a:ext cx="1180577" cy="978738"/>
          </a:xfrm>
          <a:custGeom>
            <a:avLst/>
            <a:gdLst/>
            <a:ahLst/>
            <a:cxnLst/>
            <a:rect l="0" t="0" r="w" b="h"/>
            <a:pathLst>
              <a:path w="1180577" h="978738" fill="norm" stroke="1">
                <a:moveTo>
                  <a:pt x="0" y="886638"/>
                </a:moveTo>
                <a:lnTo>
                  <a:pt x="944630" y="115820"/>
                </a:lnTo>
                <a:lnTo>
                  <a:pt x="901272" y="62685"/>
                </a:lnTo>
                <a:lnTo>
                  <a:pt x="1180577" y="0"/>
                </a:lnTo>
                <a:lnTo>
                  <a:pt x="1063142" y="261055"/>
                </a:lnTo>
                <a:lnTo>
                  <a:pt x="1019784" y="207920"/>
                </a:lnTo>
                <a:lnTo>
                  <a:pt x="75154" y="978738"/>
                </a:lnTo>
                <a:close/>
              </a:path>
            </a:pathLst>
          </a:custGeom>
          <a:solidFill>
            <a:srgbClr val="087EAD"/>
          </a:solidFill>
          <a:ln w="8890">
            <a:solidFill>
              <a:srgbClr val="075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xpand Δ"/>
          <p:cNvSpPr txBox="1"/>
          <p:nvPr/>
        </p:nvSpPr>
        <p:spPr>
          <a:xfrm>
            <a:off x="3401568" y="3392424"/>
            <a:ext cx="17556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i="0">
                <a:solidFill>
                  <a:srgbClr val="087EAD"/>
                </a:solidFill>
                <a:latin typeface="Times New Roman"/>
              </a:rPr>
              <a:t>Expand Δ</a:t>
            </a:r>
          </a:p>
        </p:txBody>
      </p:sp>
      <p:sp>
        <p:nvSpPr>
          <p:cNvPr id="177" name="第 n 个 epoch 的时长 Δ"/>
          <p:cNvSpPr/>
          <p:nvPr/>
        </p:nvSpPr>
        <p:spPr>
          <a:xfrm>
            <a:off x="896112" y="4261104"/>
            <a:ext cx="5266944" cy="155448"/>
          </a:xfrm>
          <a:custGeom>
            <a:avLst/>
            <a:gdLst/>
            <a:ahLst/>
            <a:cxnLst/>
            <a:rect l="0" t="0" r="w" b="h"/>
            <a:pathLst>
              <a:path w="5266944" h="155448" fill="none" stroke="1">
                <a:moveTo>
                  <a:pt x="0" y="155448"/>
                </a:moveTo>
                <a:cubicBezTo>
                  <a:pt x="0" y="0"/>
                  <a:pt x="0" y="0"/>
                  <a:pt x="82296" y="0"/>
                </a:cubicBezTo>
                <a:lnTo>
                  <a:pt x="5184648" y="0"/>
                </a:lnTo>
                <a:cubicBezTo>
                  <a:pt x="5266944" y="0"/>
                  <a:pt x="5266944" y="0"/>
                  <a:pt x="5266944" y="155448"/>
                </a:cubicBezTo>
              </a:path>
            </a:pathLst>
          </a:custGeom>
          <a:noFill/>
          <a:ln w="21590">
            <a:solidFill>
              <a:srgbClr val="087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第 n+1 个 epoch 的时长 Δ"/>
          <p:cNvSpPr/>
          <p:nvPr/>
        </p:nvSpPr>
        <p:spPr>
          <a:xfrm>
            <a:off x="6217920" y="4352544"/>
            <a:ext cx="5193792" cy="137160"/>
          </a:xfrm>
          <a:custGeom>
            <a:avLst/>
            <a:gdLst/>
            <a:ahLst/>
            <a:cxnLst/>
            <a:rect l="0" t="0" r="w" b="h"/>
            <a:pathLst>
              <a:path w="5193792" h="137160" fill="none" stroke="1">
                <a:moveTo>
                  <a:pt x="0" y="137160"/>
                </a:moveTo>
                <a:cubicBezTo>
                  <a:pt x="0" y="0"/>
                  <a:pt x="0" y="0"/>
                  <a:pt x="82296" y="0"/>
                </a:cubicBezTo>
                <a:lnTo>
                  <a:pt x="5111496" y="0"/>
                </a:lnTo>
                <a:cubicBezTo>
                  <a:pt x="5193792" y="0"/>
                  <a:pt x="5193792" y="0"/>
                  <a:pt x="5193792" y="137160"/>
                </a:cubicBezTo>
              </a:path>
            </a:pathLst>
          </a:custGeom>
          <a:noFill/>
          <a:ln w="21590">
            <a:solidFill>
              <a:srgbClr val="087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Δ"/>
          <p:cNvSpPr txBox="1"/>
          <p:nvPr/>
        </p:nvSpPr>
        <p:spPr>
          <a:xfrm>
            <a:off x="3182112" y="3876324"/>
            <a:ext cx="539496" cy="385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0" i="1">
                <a:solidFill>
                  <a:srgbClr val="14162A"/>
                </a:solidFill>
                <a:latin typeface="Times New Roman"/>
              </a:rPr>
              <a:t>Δ</a:t>
            </a:r>
          </a:p>
        </p:txBody>
      </p:sp>
      <p:sp>
        <p:nvSpPr>
          <p:cNvPr id="180" name="Δ"/>
          <p:cNvSpPr txBox="1"/>
          <p:nvPr/>
        </p:nvSpPr>
        <p:spPr>
          <a:xfrm>
            <a:off x="8540496" y="3899184"/>
            <a:ext cx="530352" cy="385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0" i="1">
                <a:solidFill>
                  <a:srgbClr val="14162A"/>
                </a:solidFill>
                <a:latin typeface="Times New Roman"/>
              </a:rPr>
              <a:t>Δ</a:t>
            </a:r>
          </a:p>
        </p:txBody>
      </p:sp>
      <p:cxnSp>
        <p:nvCxnSpPr>
          <p:cNvPr id="181" name="共有时间轴线段"/>
          <p:cNvCxnSpPr/>
          <p:nvPr/>
        </p:nvCxnSpPr>
        <p:spPr>
          <a:xfrm>
            <a:off x="896112" y="4773168"/>
            <a:ext cx="1709928" cy="0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共有时间轴线段"/>
          <p:cNvCxnSpPr/>
          <p:nvPr/>
        </p:nvCxnSpPr>
        <p:spPr>
          <a:xfrm>
            <a:off x="2752344" y="4773168"/>
            <a:ext cx="384048" cy="0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共有时间轴线段"/>
          <p:cNvCxnSpPr/>
          <p:nvPr/>
        </p:nvCxnSpPr>
        <p:spPr>
          <a:xfrm>
            <a:off x="3931920" y="4773168"/>
            <a:ext cx="420624" cy="0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共有时间轴线段"/>
          <p:cNvCxnSpPr/>
          <p:nvPr/>
        </p:nvCxnSpPr>
        <p:spPr>
          <a:xfrm>
            <a:off x="4480560" y="4773168"/>
            <a:ext cx="3364992" cy="0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共有时间轴线段"/>
          <p:cNvCxnSpPr/>
          <p:nvPr/>
        </p:nvCxnSpPr>
        <p:spPr>
          <a:xfrm>
            <a:off x="7955280" y="4773168"/>
            <a:ext cx="859536" cy="0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共有时间轴线段"/>
          <p:cNvCxnSpPr/>
          <p:nvPr/>
        </p:nvCxnSpPr>
        <p:spPr>
          <a:xfrm>
            <a:off x="9848088" y="4773168"/>
            <a:ext cx="100584" cy="0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共有时间轴线段"/>
          <p:cNvCxnSpPr/>
          <p:nvPr/>
        </p:nvCxnSpPr>
        <p:spPr>
          <a:xfrm>
            <a:off x="10085832" y="4773168"/>
            <a:ext cx="3794760" cy="0"/>
          </a:xfrm>
          <a:prstGeom prst="line">
            <a:avLst/>
          </a:prstGeom>
          <a:ln w="22860">
            <a:solidFill>
              <a:srgbClr val="15171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epoch 边界"/>
          <p:cNvCxnSpPr/>
          <p:nvPr/>
        </p:nvCxnSpPr>
        <p:spPr>
          <a:xfrm>
            <a:off x="896112" y="4544568"/>
            <a:ext cx="0" cy="475488"/>
          </a:xfrm>
          <a:prstGeom prst="line">
            <a:avLst/>
          </a:prstGeom>
          <a:ln w="29209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epoch 边界"/>
          <p:cNvCxnSpPr/>
          <p:nvPr/>
        </p:nvCxnSpPr>
        <p:spPr>
          <a:xfrm>
            <a:off x="6163056" y="4544568"/>
            <a:ext cx="0" cy="475488"/>
          </a:xfrm>
          <a:prstGeom prst="line">
            <a:avLst/>
          </a:prstGeom>
          <a:ln w="29209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epoch 边界"/>
          <p:cNvCxnSpPr/>
          <p:nvPr/>
        </p:nvCxnSpPr>
        <p:spPr>
          <a:xfrm>
            <a:off x="11411712" y="4544568"/>
            <a:ext cx="0" cy="475488"/>
          </a:xfrm>
          <a:prstGeom prst="line">
            <a:avLst/>
          </a:prstGeom>
          <a:ln w="29209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lot 边界"/>
          <p:cNvCxnSpPr/>
          <p:nvPr/>
        </p:nvCxnSpPr>
        <p:spPr>
          <a:xfrm>
            <a:off x="1499616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lot 边界"/>
          <p:cNvCxnSpPr/>
          <p:nvPr/>
        </p:nvCxnSpPr>
        <p:spPr>
          <a:xfrm>
            <a:off x="2057400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lot 边界"/>
          <p:cNvCxnSpPr/>
          <p:nvPr/>
        </p:nvCxnSpPr>
        <p:spPr>
          <a:xfrm>
            <a:off x="4983480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lot 边界"/>
          <p:cNvCxnSpPr/>
          <p:nvPr/>
        </p:nvCxnSpPr>
        <p:spPr>
          <a:xfrm>
            <a:off x="5532120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lot 边界"/>
          <p:cNvCxnSpPr/>
          <p:nvPr/>
        </p:nvCxnSpPr>
        <p:spPr>
          <a:xfrm>
            <a:off x="6720840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lot 边界"/>
          <p:cNvCxnSpPr/>
          <p:nvPr/>
        </p:nvCxnSpPr>
        <p:spPr>
          <a:xfrm>
            <a:off x="7251192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lot 边界"/>
          <p:cNvCxnSpPr/>
          <p:nvPr/>
        </p:nvCxnSpPr>
        <p:spPr>
          <a:xfrm>
            <a:off x="8321040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lot 边界"/>
          <p:cNvCxnSpPr/>
          <p:nvPr/>
        </p:nvCxnSpPr>
        <p:spPr>
          <a:xfrm>
            <a:off x="8842248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lot 边界"/>
          <p:cNvCxnSpPr/>
          <p:nvPr/>
        </p:nvCxnSpPr>
        <p:spPr>
          <a:xfrm>
            <a:off x="10369296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lot 边界"/>
          <p:cNvCxnSpPr/>
          <p:nvPr/>
        </p:nvCxnSpPr>
        <p:spPr>
          <a:xfrm>
            <a:off x="10863072" y="4773168"/>
            <a:ext cx="0" cy="237744"/>
          </a:xfrm>
          <a:prstGeom prst="line">
            <a:avLst/>
          </a:prstGeom>
          <a:ln w="20955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时间轴省略断点"/>
          <p:cNvCxnSpPr/>
          <p:nvPr/>
        </p:nvCxnSpPr>
        <p:spPr>
          <a:xfrm flipV="1">
            <a:off x="2560320" y="4690872"/>
            <a:ext cx="118872" cy="164592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时间轴省略断点"/>
          <p:cNvCxnSpPr/>
          <p:nvPr/>
        </p:nvCxnSpPr>
        <p:spPr>
          <a:xfrm flipV="1">
            <a:off x="2651760" y="4690872"/>
            <a:ext cx="118872" cy="164592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时间轴省略断点"/>
          <p:cNvCxnSpPr/>
          <p:nvPr/>
        </p:nvCxnSpPr>
        <p:spPr>
          <a:xfrm flipV="1">
            <a:off x="4306824" y="4690872"/>
            <a:ext cx="118872" cy="164592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时间轴省略断点"/>
          <p:cNvCxnSpPr/>
          <p:nvPr/>
        </p:nvCxnSpPr>
        <p:spPr>
          <a:xfrm flipV="1">
            <a:off x="4398264" y="4690872"/>
            <a:ext cx="118872" cy="164592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时间轴省略断点"/>
          <p:cNvCxnSpPr/>
          <p:nvPr/>
        </p:nvCxnSpPr>
        <p:spPr>
          <a:xfrm flipV="1">
            <a:off x="7799832" y="4690872"/>
            <a:ext cx="118872" cy="164592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时间轴省略断点"/>
          <p:cNvCxnSpPr/>
          <p:nvPr/>
        </p:nvCxnSpPr>
        <p:spPr>
          <a:xfrm flipV="1">
            <a:off x="7891272" y="4690872"/>
            <a:ext cx="118872" cy="164592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时间轴省略断点"/>
          <p:cNvCxnSpPr/>
          <p:nvPr/>
        </p:nvCxnSpPr>
        <p:spPr>
          <a:xfrm flipV="1">
            <a:off x="9902952" y="4690872"/>
            <a:ext cx="118872" cy="164592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时间轴省略断点"/>
          <p:cNvCxnSpPr/>
          <p:nvPr/>
        </p:nvCxnSpPr>
        <p:spPr>
          <a:xfrm flipV="1">
            <a:off x="9994392" y="4690872"/>
            <a:ext cx="118872" cy="164592"/>
          </a:xfrm>
          <a:prstGeom prst="line">
            <a:avLst/>
          </a:prstGeom>
          <a:ln w="2286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⋯"/>
          <p:cNvSpPr txBox="1"/>
          <p:nvPr/>
        </p:nvSpPr>
        <p:spPr>
          <a:xfrm>
            <a:off x="3246120" y="4505249"/>
            <a:ext cx="566928" cy="4535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>
                <a:solidFill>
                  <a:srgbClr val="14162A"/>
                </a:solidFill>
                <a:latin typeface="Times New Roman"/>
              </a:rPr>
              <a:t>⋯</a:t>
            </a:r>
          </a:p>
        </p:txBody>
      </p:sp>
      <p:sp>
        <p:nvSpPr>
          <p:cNvPr id="210" name="⋯"/>
          <p:cNvSpPr txBox="1"/>
          <p:nvPr/>
        </p:nvSpPr>
        <p:spPr>
          <a:xfrm>
            <a:off x="8942832" y="4505249"/>
            <a:ext cx="685800" cy="4535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>
                <a:solidFill>
                  <a:srgbClr val="14162A"/>
                </a:solidFill>
                <a:latin typeface="Times New Roman"/>
              </a:rPr>
              <a:t>⋯</a:t>
            </a:r>
          </a:p>
        </p:txBody>
      </p:sp>
      <p:sp>
        <p:nvSpPr>
          <p:cNvPr id="211" name="Shared timeline"/>
          <p:cNvSpPr txBox="1"/>
          <p:nvPr/>
        </p:nvSpPr>
        <p:spPr>
          <a:xfrm>
            <a:off x="11795760" y="4407408"/>
            <a:ext cx="20574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4162A"/>
                </a:solidFill>
                <a:latin typeface="Times New Roman"/>
              </a:rPr>
              <a:t>Shared timeline</a:t>
            </a:r>
          </a:p>
        </p:txBody>
      </p:sp>
      <p:sp>
        <p:nvSpPr>
          <p:cNvPr id="212" name="nΔ"/>
          <p:cNvSpPr txBox="1"/>
          <p:nvPr/>
        </p:nvSpPr>
        <p:spPr>
          <a:xfrm>
            <a:off x="457200" y="5038344"/>
            <a:ext cx="84124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14162A"/>
                </a:solidFill>
                <a:latin typeface="Times New Roman"/>
              </a:rPr>
              <a:t>nΔ</a:t>
            </a:r>
          </a:p>
        </p:txBody>
      </p:sp>
      <p:sp>
        <p:nvSpPr>
          <p:cNvPr id="213" name="(n + 1)Δ"/>
          <p:cNvSpPr txBox="1"/>
          <p:nvPr/>
        </p:nvSpPr>
        <p:spPr>
          <a:xfrm>
            <a:off x="5422392" y="5047488"/>
            <a:ext cx="1508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14162A"/>
                </a:solidFill>
                <a:latin typeface="Times New Roman"/>
              </a:rPr>
              <a:t>(n + 1)Δ</a:t>
            </a:r>
          </a:p>
        </p:txBody>
      </p:sp>
      <p:sp>
        <p:nvSpPr>
          <p:cNvPr id="214" name="(n + 2)Δ"/>
          <p:cNvSpPr txBox="1"/>
          <p:nvPr/>
        </p:nvSpPr>
        <p:spPr>
          <a:xfrm>
            <a:off x="10661904" y="5047488"/>
            <a:ext cx="151790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14162A"/>
                </a:solidFill>
                <a:latin typeface="Times New Roman"/>
              </a:rPr>
              <a:t>(n + 2)Δ</a:t>
            </a:r>
          </a:p>
        </p:txBody>
      </p:sp>
      <p:cxnSp>
        <p:nvCxnSpPr>
          <p:cNvPr id="215" name="一个 slot 的时长 τ"/>
          <p:cNvCxnSpPr/>
          <p:nvPr/>
        </p:nvCxnSpPr>
        <p:spPr>
          <a:xfrm>
            <a:off x="914400" y="4946904"/>
            <a:ext cx="566928" cy="0"/>
          </a:xfrm>
          <a:prstGeom prst="line">
            <a:avLst/>
          </a:prstGeom>
          <a:ln w="13970">
            <a:solidFill>
              <a:srgbClr val="15171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τ"/>
          <p:cNvSpPr txBox="1"/>
          <p:nvPr/>
        </p:nvSpPr>
        <p:spPr>
          <a:xfrm>
            <a:off x="1069848" y="4946904"/>
            <a:ext cx="329184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1">
                <a:solidFill>
                  <a:srgbClr val="14162A"/>
                </a:solidFill>
                <a:latin typeface="Times New Roman"/>
              </a:rPr>
              <a:t>τ</a:t>
            </a:r>
          </a:p>
        </p:txBody>
      </p:sp>
      <p:sp>
        <p:nvSpPr>
          <p:cNvPr id="217" name="Δ = Hτ,  H = 10"/>
          <p:cNvSpPr txBox="1"/>
          <p:nvPr/>
        </p:nvSpPr>
        <p:spPr>
          <a:xfrm>
            <a:off x="713232" y="5486400"/>
            <a:ext cx="2980944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>
                <a:solidFill>
                  <a:srgbClr val="14162A"/>
                </a:solidFill>
                <a:latin typeface="Times New Roman"/>
              </a:rPr>
              <a:t>Δ = Hτ,  H = 10</a:t>
            </a:r>
          </a:p>
        </p:txBody>
      </p:sp>
      <p:sp>
        <p:nvSpPr>
          <p:cNvPr id="218" name="展开的短时隙（高亮）"/>
          <p:cNvSpPr/>
          <p:nvPr/>
        </p:nvSpPr>
        <p:spPr>
          <a:xfrm>
            <a:off x="8330184" y="4782312"/>
            <a:ext cx="502920" cy="228600"/>
          </a:xfrm>
          <a:prstGeom prst="rect">
            <a:avLst/>
          </a:prstGeom>
          <a:solidFill>
            <a:srgbClr val="9B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9" name="连接线"/>
          <p:cNvCxnSpPr/>
          <p:nvPr/>
        </p:nvCxnSpPr>
        <p:spPr>
          <a:xfrm>
            <a:off x="8330184" y="4782312"/>
            <a:ext cx="502920" cy="0"/>
          </a:xfrm>
          <a:prstGeom prst="line">
            <a:avLst/>
          </a:prstGeom>
          <a:ln w="2159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高亮 slot 的括号"/>
          <p:cNvSpPr/>
          <p:nvPr/>
        </p:nvSpPr>
        <p:spPr>
          <a:xfrm>
            <a:off x="8321040" y="5074920"/>
            <a:ext cx="521208" cy="109728"/>
          </a:xfrm>
          <a:custGeom>
            <a:avLst/>
            <a:gdLst/>
            <a:ahLst/>
            <a:cxnLst/>
            <a:rect l="0" t="0" r="w" b="h"/>
            <a:pathLst>
              <a:path w="521208" h="109728" fill="none" stroke="1">
                <a:moveTo>
                  <a:pt x="0" y="0"/>
                </a:moveTo>
                <a:cubicBezTo>
                  <a:pt x="0" y="109728"/>
                  <a:pt x="0" y="109728"/>
                  <a:pt x="82296" y="109728"/>
                </a:cubicBezTo>
                <a:lnTo>
                  <a:pt x="187452" y="109728"/>
                </a:lnTo>
                <a:cubicBezTo>
                  <a:pt x="260604" y="109728"/>
                  <a:pt x="260604" y="109728"/>
                  <a:pt x="260604" y="0"/>
                </a:cubicBezTo>
                <a:cubicBezTo>
                  <a:pt x="260604" y="109728"/>
                  <a:pt x="260604" y="109728"/>
                  <a:pt x="333756" y="109728"/>
                </a:cubicBezTo>
                <a:lnTo>
                  <a:pt x="438912" y="109728"/>
                </a:lnTo>
                <a:cubicBezTo>
                  <a:pt x="521208" y="109728"/>
                  <a:pt x="521208" y="109728"/>
                  <a:pt x="521208" y="0"/>
                </a:cubicBezTo>
              </a:path>
            </a:pathLst>
          </a:custGeom>
          <a:noFill/>
          <a:ln w="21590">
            <a:solidFill>
              <a:srgbClr val="087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τ"/>
          <p:cNvSpPr txBox="1"/>
          <p:nvPr/>
        </p:nvSpPr>
        <p:spPr>
          <a:xfrm>
            <a:off x="8449056" y="5174407"/>
            <a:ext cx="274320" cy="294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1">
                <a:solidFill>
                  <a:srgbClr val="14162A"/>
                </a:solidFill>
                <a:latin typeface="Times New Roman"/>
              </a:rPr>
              <a:t>τ</a:t>
            </a:r>
          </a:p>
        </p:txBody>
      </p:sp>
      <p:sp>
        <p:nvSpPr>
          <p:cNvPr id="222" name="展开一个 slot"/>
          <p:cNvSpPr/>
          <p:nvPr/>
        </p:nvSpPr>
        <p:spPr>
          <a:xfrm>
            <a:off x="8124444" y="5468112"/>
            <a:ext cx="265176" cy="530352"/>
          </a:xfrm>
          <a:custGeom>
            <a:avLst/>
            <a:gdLst/>
            <a:ahLst/>
            <a:cxnLst/>
            <a:rect l="0" t="0" r="w" b="h"/>
            <a:pathLst>
              <a:path w="265176" h="530352" fill="norm" stroke="1">
                <a:moveTo>
                  <a:pt x="196596" y="0"/>
                </a:moveTo>
                <a:lnTo>
                  <a:pt x="196596" y="265176"/>
                </a:lnTo>
                <a:lnTo>
                  <a:pt x="265176" y="265176"/>
                </a:lnTo>
                <a:lnTo>
                  <a:pt x="132588" y="530352"/>
                </a:lnTo>
                <a:lnTo>
                  <a:pt x="0" y="265176"/>
                </a:lnTo>
                <a:lnTo>
                  <a:pt x="68580" y="265176"/>
                </a:lnTo>
                <a:lnTo>
                  <a:pt x="68580" y="0"/>
                </a:lnTo>
                <a:close/>
              </a:path>
            </a:pathLst>
          </a:custGeom>
          <a:solidFill>
            <a:srgbClr val="087EAD"/>
          </a:solidFill>
          <a:ln w="8890">
            <a:solidFill>
              <a:srgbClr val="075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and τ"/>
          <p:cNvSpPr txBox="1"/>
          <p:nvPr/>
        </p:nvSpPr>
        <p:spPr>
          <a:xfrm>
            <a:off x="8458200" y="5584972"/>
            <a:ext cx="1581912" cy="3514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i="0">
                <a:solidFill>
                  <a:srgbClr val="087EAD"/>
                </a:solidFill>
                <a:latin typeface="Times New Roman"/>
              </a:rPr>
              <a:t>Expand τ</a:t>
            </a:r>
          </a:p>
        </p:txBody>
      </p:sp>
      <p:sp>
        <p:nvSpPr>
          <p:cNvPr id="224" name="短期到长期：本地请求统计"/>
          <p:cNvSpPr/>
          <p:nvPr/>
        </p:nvSpPr>
        <p:spPr>
          <a:xfrm>
            <a:off x="73152" y="1773936"/>
            <a:ext cx="886968" cy="5394960"/>
          </a:xfrm>
          <a:custGeom>
            <a:avLst/>
            <a:gdLst/>
            <a:ahLst/>
            <a:cxnLst/>
            <a:rect l="0" t="0" r="w" b="h"/>
            <a:pathLst>
              <a:path w="886968" h="5394960" fill="none" stroke="1">
                <a:moveTo>
                  <a:pt x="886968" y="5394960"/>
                </a:moveTo>
                <a:cubicBezTo>
                  <a:pt x="18288" y="4709160"/>
                  <a:pt x="0" y="3474720"/>
                  <a:pt x="237744" y="1216152"/>
                </a:cubicBezTo>
                <a:cubicBezTo>
                  <a:pt x="329184" y="777240"/>
                  <a:pt x="457200" y="320040"/>
                  <a:pt x="777240" y="0"/>
                </a:cubicBezTo>
              </a:path>
            </a:pathLst>
          </a:custGeom>
          <a:noFill/>
          <a:ln w="22860">
            <a:solidFill>
              <a:srgbClr val="7540BB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Local request statistics"/>
          <p:cNvSpPr txBox="1"/>
          <p:nvPr/>
        </p:nvSpPr>
        <p:spPr>
          <a:xfrm>
            <a:off x="365760" y="2953512"/>
            <a:ext cx="1764792" cy="576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540BB"/>
                </a:solidFill>
                <a:latin typeface="Times New Roman"/>
              </a:rPr>
              <a:t>Local request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540BB"/>
                </a:solidFill>
                <a:latin typeface="Times New Roman"/>
              </a:rPr>
              <a:t>statistics</a:t>
            </a:r>
          </a:p>
        </p:txBody>
      </p:sp>
      <p:sp>
        <p:nvSpPr>
          <p:cNvPr id="226" name="长期到短期：模型常驻与重载成本"/>
          <p:cNvSpPr/>
          <p:nvPr/>
        </p:nvSpPr>
        <p:spPr>
          <a:xfrm>
            <a:off x="13533120" y="1335024"/>
            <a:ext cx="704088" cy="5276088"/>
          </a:xfrm>
          <a:custGeom>
            <a:avLst/>
            <a:gdLst/>
            <a:ahLst/>
            <a:cxnLst/>
            <a:rect l="0" t="0" r="w" b="h"/>
            <a:pathLst>
              <a:path w="704088" h="5276088" fill="none" stroke="1">
                <a:moveTo>
                  <a:pt x="73152" y="0"/>
                </a:moveTo>
                <a:cubicBezTo>
                  <a:pt x="640080" y="886968"/>
                  <a:pt x="704088" y="2020824"/>
                  <a:pt x="667512" y="3118104"/>
                </a:cubicBezTo>
                <a:cubicBezTo>
                  <a:pt x="649224" y="4032504"/>
                  <a:pt x="374904" y="4745736"/>
                  <a:pt x="0" y="5276088"/>
                </a:cubicBezTo>
              </a:path>
            </a:pathLst>
          </a:custGeom>
          <a:noFill/>
          <a:ln w="22860">
            <a:solidFill>
              <a:srgbClr val="17A5AC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Model residency / reload cost"/>
          <p:cNvSpPr txBox="1"/>
          <p:nvPr/>
        </p:nvSpPr>
        <p:spPr>
          <a:xfrm>
            <a:off x="12417552" y="3630168"/>
            <a:ext cx="170078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38F95"/>
                </a:solidFill>
                <a:latin typeface="Times New Roman"/>
              </a:rPr>
              <a:t>Model residency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38F95"/>
                </a:solidFill>
                <a:latin typeface="Times New Roman"/>
              </a:rPr>
              <a:t>reload cost</a:t>
            </a:r>
          </a:p>
        </p:txBody>
      </p:sp>
      <p:sp>
        <p:nvSpPr>
          <p:cNvPr id="228" name="Short timescale: task routing (user agent)"/>
          <p:cNvSpPr txBox="1"/>
          <p:nvPr/>
        </p:nvSpPr>
        <p:spPr>
          <a:xfrm>
            <a:off x="3712464" y="6071616"/>
            <a:ext cx="833932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i="0">
                <a:solidFill>
                  <a:srgbClr val="14162A"/>
                </a:solidFill>
                <a:latin typeface="Times New Roman"/>
              </a:rPr>
              <a:t>Short timescale: task routing (user agent)</a:t>
            </a:r>
          </a:p>
        </p:txBody>
      </p:sp>
      <p:cxnSp>
        <p:nvCxnSpPr>
          <p:cNvPr id="229" name="用户入口箭头"/>
          <p:cNvCxnSpPr/>
          <p:nvPr/>
        </p:nvCxnSpPr>
        <p:spPr>
          <a:xfrm>
            <a:off x="164592" y="7680960"/>
            <a:ext cx="658368" cy="0"/>
          </a:xfrm>
          <a:prstGeom prst="line">
            <a:avLst/>
          </a:prstGeom>
          <a:ln w="24130">
            <a:solidFill>
              <a:srgbClr val="15171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0" name="图标-用户与笔记本（可编辑矢量）"/>
          <p:cNvGrpSpPr/>
          <p:nvPr/>
        </p:nvGrpSpPr>
        <p:grpSpPr>
          <a:xfrm>
            <a:off x="932688" y="7123176"/>
            <a:ext cx="1508760" cy="1115568"/>
            <a:chOff x="932688" y="7123176"/>
            <a:chExt cx="1508760" cy="1115568"/>
          </a:xfrm>
        </p:grpSpPr>
        <p:sp>
          <p:nvSpPr>
            <p:cNvPr id="231" name="用户-衣服"/>
            <p:cNvSpPr/>
            <p:nvPr/>
          </p:nvSpPr>
          <p:spPr>
            <a:xfrm>
              <a:off x="932688" y="7671816"/>
              <a:ext cx="621792" cy="512064"/>
            </a:xfrm>
            <a:custGeom>
              <a:avLst/>
              <a:gdLst/>
              <a:ahLst/>
              <a:cxnLst/>
              <a:rect l="0" t="0" r="w" b="h"/>
              <a:pathLst>
                <a:path w="621792" h="512064" fill="norm" stroke="1">
                  <a:moveTo>
                    <a:pt x="18288" y="512064"/>
                  </a:moveTo>
                  <a:cubicBezTo>
                    <a:pt x="9144" y="256032"/>
                    <a:pt x="0" y="36576"/>
                    <a:pt x="182880" y="0"/>
                  </a:cubicBezTo>
                  <a:lnTo>
                    <a:pt x="429768" y="27432"/>
                  </a:lnTo>
                  <a:cubicBezTo>
                    <a:pt x="576072" y="109728"/>
                    <a:pt x="585216" y="283464"/>
                    <a:pt x="621792" y="484632"/>
                  </a:cubicBezTo>
                  <a:lnTo>
                    <a:pt x="18288" y="512064"/>
                  </a:lnTo>
                  <a:close/>
                </a:path>
              </a:pathLst>
            </a:custGeom>
            <a:solidFill>
              <a:srgbClr val="3CC7C5"/>
            </a:solidFill>
            <a:ln w="21590">
              <a:solidFill>
                <a:srgbClr val="1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用户-脖子"/>
            <p:cNvSpPr/>
            <p:nvPr/>
          </p:nvSpPr>
          <p:spPr>
            <a:xfrm>
              <a:off x="1161288" y="7562088"/>
              <a:ext cx="164592" cy="210312"/>
            </a:xfrm>
            <a:prstGeom prst="roundRect">
              <a:avLst>
                <a:gd name="adj" fmla="val 10000"/>
              </a:avLst>
            </a:prstGeom>
            <a:solidFill>
              <a:srgbClr val="F6C4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用户-脸"/>
            <p:cNvSpPr/>
            <p:nvPr/>
          </p:nvSpPr>
          <p:spPr>
            <a:xfrm>
              <a:off x="1124712" y="7205472"/>
              <a:ext cx="384048" cy="493776"/>
            </a:xfrm>
            <a:prstGeom prst="ellipse">
              <a:avLst/>
            </a:prstGeom>
            <a:solidFill>
              <a:srgbClr val="FFD29A"/>
            </a:solidFill>
            <a:ln w="12700">
              <a:solidFill>
                <a:srgbClr val="C68C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用户-鼻子"/>
            <p:cNvSpPr/>
            <p:nvPr/>
          </p:nvSpPr>
          <p:spPr>
            <a:xfrm>
              <a:off x="1463040" y="7397496"/>
              <a:ext cx="91440" cy="91440"/>
            </a:xfrm>
            <a:custGeom>
              <a:avLst/>
              <a:gdLst/>
              <a:ahLst/>
              <a:cxnLst/>
              <a:rect l="0" t="0" r="w" b="h"/>
              <a:pathLst>
                <a:path w="91440" h="91440" fill="norm" stroke="0">
                  <a:moveTo>
                    <a:pt x="0" y="0"/>
                  </a:moveTo>
                  <a:lnTo>
                    <a:pt x="91440" y="54864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D2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用户-头发"/>
            <p:cNvSpPr/>
            <p:nvPr/>
          </p:nvSpPr>
          <p:spPr>
            <a:xfrm>
              <a:off x="960120" y="7123176"/>
              <a:ext cx="621792" cy="420624"/>
            </a:xfrm>
            <a:custGeom>
              <a:avLst/>
              <a:gdLst/>
              <a:ahLst/>
              <a:cxnLst/>
              <a:rect l="0" t="0" r="w" b="h"/>
              <a:pathLst>
                <a:path w="621792" h="420624" fill="norm" stroke="1">
                  <a:moveTo>
                    <a:pt x="146304" y="420624"/>
                  </a:moveTo>
                  <a:cubicBezTo>
                    <a:pt x="0" y="329184"/>
                    <a:pt x="73152" y="82296"/>
                    <a:pt x="228600" y="54864"/>
                  </a:cubicBezTo>
                  <a:cubicBezTo>
                    <a:pt x="338328" y="0"/>
                    <a:pt x="384048" y="137160"/>
                    <a:pt x="475488" y="36576"/>
                  </a:cubicBezTo>
                  <a:cubicBezTo>
                    <a:pt x="621792" y="54864"/>
                    <a:pt x="530352" y="192024"/>
                    <a:pt x="365760" y="173736"/>
                  </a:cubicBezTo>
                  <a:lnTo>
                    <a:pt x="237744" y="182880"/>
                  </a:lnTo>
                  <a:lnTo>
                    <a:pt x="237744" y="356616"/>
                  </a:lnTo>
                  <a:lnTo>
                    <a:pt x="146304" y="420624"/>
                  </a:lnTo>
                  <a:close/>
                </a:path>
              </a:pathLst>
            </a:custGeom>
            <a:solidFill>
              <a:srgbClr val="5B438B"/>
            </a:solidFill>
            <a:ln w="12700">
              <a:solidFill>
                <a:srgbClr val="4935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用户-耳朵"/>
            <p:cNvSpPr/>
            <p:nvPr/>
          </p:nvSpPr>
          <p:spPr>
            <a:xfrm>
              <a:off x="1115568" y="7397496"/>
              <a:ext cx="128016" cy="164592"/>
            </a:xfrm>
            <a:prstGeom prst="ellipse">
              <a:avLst/>
            </a:prstGeom>
            <a:solidFill>
              <a:srgbClr val="FFD2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用户-眼睛"/>
            <p:cNvSpPr/>
            <p:nvPr/>
          </p:nvSpPr>
          <p:spPr>
            <a:xfrm>
              <a:off x="1408176" y="7360920"/>
              <a:ext cx="27432" cy="45720"/>
            </a:xfrm>
            <a:prstGeom prst="ellipse">
              <a:avLst/>
            </a:prstGeom>
            <a:solidFill>
              <a:srgbClr val="15171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用户-微笑"/>
            <p:cNvSpPr/>
            <p:nvPr/>
          </p:nvSpPr>
          <p:spPr>
            <a:xfrm>
              <a:off x="1371600" y="7525512"/>
              <a:ext cx="109728" cy="54864"/>
            </a:xfrm>
            <a:custGeom>
              <a:avLst/>
              <a:gdLst/>
              <a:ahLst/>
              <a:cxnLst/>
              <a:rect l="0" t="0" r="w" b="h"/>
              <a:pathLst>
                <a:path w="109728" h="54864" fill="none" stroke="1">
                  <a:moveTo>
                    <a:pt x="0" y="9144"/>
                  </a:moveTo>
                  <a:cubicBezTo>
                    <a:pt x="64008" y="54864"/>
                    <a:pt x="91440" y="9144"/>
                    <a:pt x="109728" y="0"/>
                  </a:cubicBezTo>
                </a:path>
              </a:pathLst>
            </a:custGeom>
            <a:noFill/>
            <a:ln w="11430">
              <a:solidFill>
                <a:srgbClr val="B37B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用户-袖子"/>
            <p:cNvSpPr/>
            <p:nvPr/>
          </p:nvSpPr>
          <p:spPr>
            <a:xfrm>
              <a:off x="1069848" y="7872984"/>
              <a:ext cx="320040" cy="256032"/>
            </a:xfrm>
            <a:custGeom>
              <a:avLst/>
              <a:gdLst/>
              <a:ahLst/>
              <a:cxnLst/>
              <a:rect l="0" t="0" r="w" b="h"/>
              <a:pathLst>
                <a:path w="320040" h="256032" fill="none" stroke="1">
                  <a:moveTo>
                    <a:pt x="0" y="0"/>
                  </a:moveTo>
                  <a:lnTo>
                    <a:pt x="9144" y="256032"/>
                  </a:lnTo>
                  <a:lnTo>
                    <a:pt x="320040" y="256032"/>
                  </a:lnTo>
                </a:path>
              </a:pathLst>
            </a:custGeom>
            <a:noFill/>
            <a:ln w="19050">
              <a:solidFill>
                <a:srgbClr val="1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用户-手臂"/>
            <p:cNvSpPr/>
            <p:nvPr/>
          </p:nvSpPr>
          <p:spPr>
            <a:xfrm>
              <a:off x="1399032" y="8065008"/>
              <a:ext cx="329184" cy="118872"/>
            </a:xfrm>
            <a:prstGeom prst="roundRect">
              <a:avLst>
                <a:gd name="adj" fmla="val 10000"/>
              </a:avLst>
            </a:prstGeom>
            <a:solidFill>
              <a:srgbClr val="FFD2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用户-手掌"/>
            <p:cNvSpPr/>
            <p:nvPr/>
          </p:nvSpPr>
          <p:spPr>
            <a:xfrm>
              <a:off x="1581912" y="8037576"/>
              <a:ext cx="219456" cy="128016"/>
            </a:xfrm>
            <a:prstGeom prst="ellipse">
              <a:avLst/>
            </a:prstGeom>
            <a:solidFill>
              <a:srgbClr val="FFD2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笔记本-屏幕"/>
            <p:cNvSpPr/>
            <p:nvPr/>
          </p:nvSpPr>
          <p:spPr>
            <a:xfrm>
              <a:off x="1499616" y="7690104"/>
              <a:ext cx="941832" cy="502920"/>
            </a:xfrm>
            <a:custGeom>
              <a:avLst/>
              <a:gdLst/>
              <a:ahLst/>
              <a:cxnLst/>
              <a:rect l="0" t="0" r="w" b="h"/>
              <a:pathLst>
                <a:path w="941832" h="502920" fill="norm" stroke="1">
                  <a:moveTo>
                    <a:pt x="192024" y="0"/>
                  </a:moveTo>
                  <a:lnTo>
                    <a:pt x="941832" y="0"/>
                  </a:lnTo>
                  <a:lnTo>
                    <a:pt x="731520" y="502920"/>
                  </a:lnTo>
                  <a:lnTo>
                    <a:pt x="0" y="502920"/>
                  </a:lnTo>
                  <a:close/>
                </a:path>
              </a:pathLst>
            </a:custGeom>
            <a:solidFill>
              <a:srgbClr val="7143C6"/>
            </a:solidFill>
            <a:ln w="25400">
              <a:solidFill>
                <a:srgbClr val="3E23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笔记本-屏幕高光"/>
            <p:cNvSpPr/>
            <p:nvPr/>
          </p:nvSpPr>
          <p:spPr>
            <a:xfrm>
              <a:off x="1746504" y="7735824"/>
              <a:ext cx="603504" cy="365760"/>
            </a:xfrm>
            <a:custGeom>
              <a:avLst/>
              <a:gdLst/>
              <a:ahLst/>
              <a:cxnLst/>
              <a:rect l="0" t="0" r="w" b="h"/>
              <a:pathLst>
                <a:path w="603504" h="365760" fill="norm" stroke="0">
                  <a:moveTo>
                    <a:pt x="0" y="0"/>
                  </a:moveTo>
                  <a:lnTo>
                    <a:pt x="603504" y="0"/>
                  </a:lnTo>
                  <a:lnTo>
                    <a:pt x="448056" y="365760"/>
                  </a:lnTo>
                  <a:close/>
                </a:path>
              </a:pathLst>
            </a:custGeom>
            <a:solidFill>
              <a:srgbClr val="8256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笔记本-屏幕阴影"/>
            <p:cNvSpPr/>
            <p:nvPr/>
          </p:nvSpPr>
          <p:spPr>
            <a:xfrm>
              <a:off x="1609344" y="7754112"/>
              <a:ext cx="502920" cy="356616"/>
            </a:xfrm>
            <a:custGeom>
              <a:avLst/>
              <a:gdLst/>
              <a:ahLst/>
              <a:cxnLst/>
              <a:rect l="0" t="0" r="w" b="h"/>
              <a:pathLst>
                <a:path w="502920" h="356616" fill="norm" stroke="0">
                  <a:moveTo>
                    <a:pt x="109728" y="0"/>
                  </a:moveTo>
                  <a:lnTo>
                    <a:pt x="0" y="356616"/>
                  </a:lnTo>
                  <a:lnTo>
                    <a:pt x="502920" y="356616"/>
                  </a:lnTo>
                  <a:close/>
                </a:path>
              </a:pathLst>
            </a:custGeom>
            <a:solidFill>
              <a:srgbClr val="6237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笔记本-底座"/>
            <p:cNvSpPr/>
            <p:nvPr/>
          </p:nvSpPr>
          <p:spPr>
            <a:xfrm>
              <a:off x="1426464" y="8174736"/>
              <a:ext cx="896112" cy="64008"/>
            </a:xfrm>
            <a:prstGeom prst="roundRect">
              <a:avLst>
                <a:gd name="adj" fmla="val 10000"/>
              </a:avLst>
            </a:prstGeom>
            <a:solidFill>
              <a:srgbClr val="43266C"/>
            </a:solidFill>
            <a:ln w="12700">
              <a:solidFill>
                <a:srgbClr val="33204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6" name="图标-用户任务"/>
          <p:cNvGrpSpPr/>
          <p:nvPr/>
        </p:nvGrpSpPr>
        <p:grpSpPr>
          <a:xfrm>
            <a:off x="1700784" y="6748272"/>
            <a:ext cx="1627632" cy="685800"/>
            <a:chOff x="1700784" y="6748272"/>
            <a:chExt cx="1627632" cy="685800"/>
          </a:xfrm>
        </p:grpSpPr>
        <p:grpSp>
          <p:nvGrpSpPr>
            <p:cNvPr id="247" name="图标-可编辑任务文件"/>
            <p:cNvGrpSpPr/>
            <p:nvPr/>
          </p:nvGrpSpPr>
          <p:grpSpPr>
            <a:xfrm>
              <a:off x="2011680" y="6803136"/>
              <a:ext cx="356616" cy="512064"/>
              <a:chOff x="2011680" y="6803136"/>
              <a:chExt cx="356616" cy="512064"/>
            </a:xfrm>
          </p:grpSpPr>
          <p:sp>
            <p:nvSpPr>
              <p:cNvPr id="248" name="任务文件轮廓"/>
              <p:cNvSpPr/>
              <p:nvPr/>
            </p:nvSpPr>
            <p:spPr>
              <a:xfrm>
                <a:off x="2011680" y="6803136"/>
                <a:ext cx="356616" cy="512064"/>
              </a:xfrm>
              <a:custGeom>
                <a:avLst/>
                <a:gdLst/>
                <a:ahLst/>
                <a:cxnLst/>
                <a:rect l="0" t="0" r="w" b="h"/>
                <a:pathLst>
                  <a:path w="356616" h="512064" fill="norm" stroke="1">
                    <a:moveTo>
                      <a:pt x="0" y="0"/>
                    </a:moveTo>
                    <a:lnTo>
                      <a:pt x="256764" y="0"/>
                    </a:lnTo>
                    <a:lnTo>
                      <a:pt x="356616" y="99852"/>
                    </a:lnTo>
                    <a:lnTo>
                      <a:pt x="356616" y="512064"/>
                    </a:lnTo>
                    <a:lnTo>
                      <a:pt x="0" y="512064"/>
                    </a:lnTo>
                    <a:close/>
                  </a:path>
                </a:pathLst>
              </a:custGeom>
              <a:solidFill>
                <a:srgbClr val="A6E3DE"/>
              </a:solidFill>
              <a:ln w="21590">
                <a:solidFill>
                  <a:srgbClr val="17A5A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文件折角"/>
              <p:cNvSpPr/>
              <p:nvPr/>
            </p:nvSpPr>
            <p:spPr>
              <a:xfrm>
                <a:off x="2268444" y="6803136"/>
                <a:ext cx="99852" cy="99852"/>
              </a:xfrm>
              <a:custGeom>
                <a:avLst/>
                <a:gdLst/>
                <a:ahLst/>
                <a:cxnLst/>
                <a:rect l="0" t="0" r="w" b="h"/>
                <a:pathLst>
                  <a:path w="99852" h="99852" fill="norm" stroke="1">
                    <a:moveTo>
                      <a:pt x="0" y="0"/>
                    </a:moveTo>
                    <a:lnTo>
                      <a:pt x="0" y="99852"/>
                    </a:lnTo>
                    <a:lnTo>
                      <a:pt x="99852" y="99852"/>
                    </a:ln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17A5A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0" name="图标-可编辑任务文件"/>
            <p:cNvGrpSpPr/>
            <p:nvPr/>
          </p:nvGrpSpPr>
          <p:grpSpPr>
            <a:xfrm>
              <a:off x="2468880" y="6903720"/>
              <a:ext cx="393192" cy="530352"/>
              <a:chOff x="2468880" y="6903720"/>
              <a:chExt cx="393192" cy="530352"/>
            </a:xfrm>
          </p:grpSpPr>
          <p:sp>
            <p:nvSpPr>
              <p:cNvPr id="251" name="任务文件轮廓"/>
              <p:cNvSpPr/>
              <p:nvPr/>
            </p:nvSpPr>
            <p:spPr>
              <a:xfrm>
                <a:off x="2468880" y="6903720"/>
                <a:ext cx="393192" cy="530352"/>
              </a:xfrm>
              <a:custGeom>
                <a:avLst/>
                <a:gdLst/>
                <a:ahLst/>
                <a:cxnLst/>
                <a:rect l="0" t="0" r="w" b="h"/>
                <a:pathLst>
                  <a:path w="393192" h="530352" fill="norm" stroke="1">
                    <a:moveTo>
                      <a:pt x="0" y="0"/>
                    </a:moveTo>
                    <a:lnTo>
                      <a:pt x="283098" y="0"/>
                    </a:lnTo>
                    <a:lnTo>
                      <a:pt x="393192" y="110094"/>
                    </a:lnTo>
                    <a:lnTo>
                      <a:pt x="393192" y="530352"/>
                    </a:lnTo>
                    <a:lnTo>
                      <a:pt x="0" y="530352"/>
                    </a:lnTo>
                    <a:close/>
                  </a:path>
                </a:pathLst>
              </a:custGeom>
              <a:solidFill>
                <a:srgbClr val="C6A9F8"/>
              </a:solidFill>
              <a:ln w="21590">
                <a:solidFill>
                  <a:srgbClr val="7540B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文件折角"/>
              <p:cNvSpPr/>
              <p:nvPr/>
            </p:nvSpPr>
            <p:spPr>
              <a:xfrm>
                <a:off x="2751978" y="6903720"/>
                <a:ext cx="110094" cy="110094"/>
              </a:xfrm>
              <a:custGeom>
                <a:avLst/>
                <a:gdLst/>
                <a:ahLst/>
                <a:cxnLst/>
                <a:rect l="0" t="0" r="w" b="h"/>
                <a:pathLst>
                  <a:path w="110094" h="110094" fill="norm" stroke="1">
                    <a:moveTo>
                      <a:pt x="0" y="0"/>
                    </a:moveTo>
                    <a:lnTo>
                      <a:pt x="0" y="110094"/>
                    </a:lnTo>
                    <a:lnTo>
                      <a:pt x="110094" y="110094"/>
                    </a:ln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7540B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3" name="图标-可编辑任务文件"/>
            <p:cNvGrpSpPr/>
            <p:nvPr/>
          </p:nvGrpSpPr>
          <p:grpSpPr>
            <a:xfrm>
              <a:off x="2953512" y="6748272"/>
              <a:ext cx="374904" cy="502920"/>
              <a:chOff x="2953512" y="6748272"/>
              <a:chExt cx="374904" cy="502920"/>
            </a:xfrm>
          </p:grpSpPr>
          <p:sp>
            <p:nvSpPr>
              <p:cNvPr id="254" name="任务文件轮廓"/>
              <p:cNvSpPr/>
              <p:nvPr/>
            </p:nvSpPr>
            <p:spPr>
              <a:xfrm>
                <a:off x="2953512" y="6748272"/>
                <a:ext cx="374904" cy="502920"/>
              </a:xfrm>
              <a:custGeom>
                <a:avLst/>
                <a:gdLst/>
                <a:ahLst/>
                <a:cxnLst/>
                <a:rect l="0" t="0" r="w" b="h"/>
                <a:pathLst>
                  <a:path w="374904" h="502920" fill="norm" stroke="1">
                    <a:moveTo>
                      <a:pt x="0" y="0"/>
                    </a:moveTo>
                    <a:lnTo>
                      <a:pt x="269931" y="0"/>
                    </a:lnTo>
                    <a:lnTo>
                      <a:pt x="374904" y="104973"/>
                    </a:lnTo>
                    <a:lnTo>
                      <a:pt x="374904" y="502920"/>
                    </a:lnTo>
                    <a:lnTo>
                      <a:pt x="0" y="502920"/>
                    </a:lnTo>
                    <a:close/>
                  </a:path>
                </a:pathLst>
              </a:custGeom>
              <a:solidFill>
                <a:srgbClr val="FFE0A0"/>
              </a:solidFill>
              <a:ln w="21590">
                <a:solidFill>
                  <a:srgbClr val="DB932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文件折角"/>
              <p:cNvSpPr/>
              <p:nvPr/>
            </p:nvSpPr>
            <p:spPr>
              <a:xfrm>
                <a:off x="3223443" y="6748272"/>
                <a:ext cx="104973" cy="104973"/>
              </a:xfrm>
              <a:custGeom>
                <a:avLst/>
                <a:gdLst/>
                <a:ahLst/>
                <a:cxnLst/>
                <a:rect l="0" t="0" r="w" b="h"/>
                <a:pathLst>
                  <a:path w="104973" h="104973" fill="norm" stroke="1">
                    <a:moveTo>
                      <a:pt x="0" y="0"/>
                    </a:moveTo>
                    <a:lnTo>
                      <a:pt x="0" y="104973"/>
                    </a:lnTo>
                    <a:lnTo>
                      <a:pt x="104973" y="104973"/>
                    </a:ln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DB932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cxnSp>
          <p:nvCxnSpPr>
            <p:cNvPr id="256" name="连接线"/>
            <p:cNvCxnSpPr/>
            <p:nvPr/>
          </p:nvCxnSpPr>
          <p:spPr>
            <a:xfrm flipV="1">
              <a:off x="1700784" y="6976872"/>
              <a:ext cx="210312" cy="73152"/>
            </a:xfrm>
            <a:prstGeom prst="line">
              <a:avLst/>
            </a:prstGeom>
            <a:ln w="17780">
              <a:solidFill>
                <a:srgbClr val="77859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连接线"/>
            <p:cNvCxnSpPr/>
            <p:nvPr/>
          </p:nvCxnSpPr>
          <p:spPr>
            <a:xfrm flipV="1">
              <a:off x="1700784" y="7132320"/>
              <a:ext cx="210312" cy="73152"/>
            </a:xfrm>
            <a:prstGeom prst="line">
              <a:avLst/>
            </a:prstGeom>
            <a:ln w="17780">
              <a:solidFill>
                <a:srgbClr val="77859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连接线"/>
            <p:cNvCxnSpPr/>
            <p:nvPr/>
          </p:nvCxnSpPr>
          <p:spPr>
            <a:xfrm flipV="1">
              <a:off x="1700784" y="7287768"/>
              <a:ext cx="210312" cy="73152"/>
            </a:xfrm>
            <a:prstGeom prst="line">
              <a:avLst/>
            </a:prstGeom>
            <a:ln w="17780">
              <a:solidFill>
                <a:srgbClr val="77859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9" name="图标-任务到达"/>
          <p:cNvGrpSpPr/>
          <p:nvPr/>
        </p:nvGrpSpPr>
        <p:grpSpPr>
          <a:xfrm>
            <a:off x="4864608" y="6784848"/>
            <a:ext cx="1252728" cy="484632"/>
            <a:chOff x="4864608" y="6784848"/>
            <a:chExt cx="1252728" cy="484632"/>
          </a:xfrm>
        </p:grpSpPr>
        <p:grpSp>
          <p:nvGrpSpPr>
            <p:cNvPr id="260" name="图标-可编辑任务文件"/>
            <p:cNvGrpSpPr/>
            <p:nvPr/>
          </p:nvGrpSpPr>
          <p:grpSpPr>
            <a:xfrm>
              <a:off x="4864608" y="6784848"/>
              <a:ext cx="356616" cy="484632"/>
              <a:chOff x="4864608" y="6784848"/>
              <a:chExt cx="356616" cy="484632"/>
            </a:xfrm>
          </p:grpSpPr>
          <p:sp>
            <p:nvSpPr>
              <p:cNvPr id="261" name="任务文件轮廓"/>
              <p:cNvSpPr/>
              <p:nvPr/>
            </p:nvSpPr>
            <p:spPr>
              <a:xfrm>
                <a:off x="4864608" y="6784848"/>
                <a:ext cx="356616" cy="484632"/>
              </a:xfrm>
              <a:custGeom>
                <a:avLst/>
                <a:gdLst/>
                <a:ahLst/>
                <a:cxnLst/>
                <a:rect l="0" t="0" r="w" b="h"/>
                <a:pathLst>
                  <a:path w="356616" h="484632" fill="norm" stroke="1">
                    <a:moveTo>
                      <a:pt x="0" y="0"/>
                    </a:moveTo>
                    <a:lnTo>
                      <a:pt x="256764" y="0"/>
                    </a:lnTo>
                    <a:lnTo>
                      <a:pt x="356616" y="99852"/>
                    </a:lnTo>
                    <a:lnTo>
                      <a:pt x="356616" y="484632"/>
                    </a:lnTo>
                    <a:lnTo>
                      <a:pt x="0" y="484632"/>
                    </a:lnTo>
                    <a:close/>
                  </a:path>
                </a:pathLst>
              </a:custGeom>
              <a:solidFill>
                <a:srgbClr val="A7E5E0"/>
              </a:solidFill>
              <a:ln w="21590">
                <a:solidFill>
                  <a:srgbClr val="17A5A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文件折角"/>
              <p:cNvSpPr/>
              <p:nvPr/>
            </p:nvSpPr>
            <p:spPr>
              <a:xfrm>
                <a:off x="5121372" y="6784848"/>
                <a:ext cx="99852" cy="99852"/>
              </a:xfrm>
              <a:custGeom>
                <a:avLst/>
                <a:gdLst/>
                <a:ahLst/>
                <a:cxnLst/>
                <a:rect l="0" t="0" r="w" b="h"/>
                <a:pathLst>
                  <a:path w="99852" h="99852" fill="norm" stroke="1">
                    <a:moveTo>
                      <a:pt x="0" y="0"/>
                    </a:moveTo>
                    <a:lnTo>
                      <a:pt x="0" y="99852"/>
                    </a:lnTo>
                    <a:lnTo>
                      <a:pt x="99852" y="99852"/>
                    </a:ln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17A5A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3" name="图标-可编辑任务文件"/>
            <p:cNvGrpSpPr/>
            <p:nvPr/>
          </p:nvGrpSpPr>
          <p:grpSpPr>
            <a:xfrm>
              <a:off x="5312664" y="6784848"/>
              <a:ext cx="356616" cy="484632"/>
              <a:chOff x="5312664" y="6784848"/>
              <a:chExt cx="356616" cy="484632"/>
            </a:xfrm>
          </p:grpSpPr>
          <p:sp>
            <p:nvSpPr>
              <p:cNvPr id="264" name="任务文件轮廓"/>
              <p:cNvSpPr/>
              <p:nvPr/>
            </p:nvSpPr>
            <p:spPr>
              <a:xfrm>
                <a:off x="5312664" y="6784848"/>
                <a:ext cx="356616" cy="484632"/>
              </a:xfrm>
              <a:custGeom>
                <a:avLst/>
                <a:gdLst/>
                <a:ahLst/>
                <a:cxnLst/>
                <a:rect l="0" t="0" r="w" b="h"/>
                <a:pathLst>
                  <a:path w="356616" h="484632" fill="norm" stroke="1">
                    <a:moveTo>
                      <a:pt x="0" y="0"/>
                    </a:moveTo>
                    <a:lnTo>
                      <a:pt x="256764" y="0"/>
                    </a:lnTo>
                    <a:lnTo>
                      <a:pt x="356616" y="99852"/>
                    </a:lnTo>
                    <a:lnTo>
                      <a:pt x="356616" y="484632"/>
                    </a:lnTo>
                    <a:lnTo>
                      <a:pt x="0" y="484632"/>
                    </a:lnTo>
                    <a:close/>
                  </a:path>
                </a:pathLst>
              </a:custGeom>
              <a:solidFill>
                <a:srgbClr val="C7A9F7"/>
              </a:solidFill>
              <a:ln w="21590">
                <a:solidFill>
                  <a:srgbClr val="7540B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文件折角"/>
              <p:cNvSpPr/>
              <p:nvPr/>
            </p:nvSpPr>
            <p:spPr>
              <a:xfrm>
                <a:off x="5569428" y="6784848"/>
                <a:ext cx="99852" cy="99852"/>
              </a:xfrm>
              <a:custGeom>
                <a:avLst/>
                <a:gdLst/>
                <a:ahLst/>
                <a:cxnLst/>
                <a:rect l="0" t="0" r="w" b="h"/>
                <a:pathLst>
                  <a:path w="99852" h="99852" fill="norm" stroke="1">
                    <a:moveTo>
                      <a:pt x="0" y="0"/>
                    </a:moveTo>
                    <a:lnTo>
                      <a:pt x="0" y="99852"/>
                    </a:lnTo>
                    <a:lnTo>
                      <a:pt x="99852" y="99852"/>
                    </a:ln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7540B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6" name="图标-可编辑任务文件"/>
            <p:cNvGrpSpPr/>
            <p:nvPr/>
          </p:nvGrpSpPr>
          <p:grpSpPr>
            <a:xfrm>
              <a:off x="5760720" y="6784848"/>
              <a:ext cx="356616" cy="484632"/>
              <a:chOff x="5760720" y="6784848"/>
              <a:chExt cx="356616" cy="484632"/>
            </a:xfrm>
          </p:grpSpPr>
          <p:sp>
            <p:nvSpPr>
              <p:cNvPr id="267" name="任务文件轮廓"/>
              <p:cNvSpPr/>
              <p:nvPr/>
            </p:nvSpPr>
            <p:spPr>
              <a:xfrm>
                <a:off x="5760720" y="6784848"/>
                <a:ext cx="356616" cy="484632"/>
              </a:xfrm>
              <a:custGeom>
                <a:avLst/>
                <a:gdLst/>
                <a:ahLst/>
                <a:cxnLst/>
                <a:rect l="0" t="0" r="w" b="h"/>
                <a:pathLst>
                  <a:path w="356616" h="484632" fill="norm" stroke="1">
                    <a:moveTo>
                      <a:pt x="0" y="0"/>
                    </a:moveTo>
                    <a:lnTo>
                      <a:pt x="256764" y="0"/>
                    </a:lnTo>
                    <a:lnTo>
                      <a:pt x="356616" y="99852"/>
                    </a:lnTo>
                    <a:lnTo>
                      <a:pt x="356616" y="484632"/>
                    </a:lnTo>
                    <a:lnTo>
                      <a:pt x="0" y="484632"/>
                    </a:lnTo>
                    <a:close/>
                  </a:path>
                </a:pathLst>
              </a:custGeom>
              <a:solidFill>
                <a:srgbClr val="FFE0A0"/>
              </a:solidFill>
              <a:ln w="21590">
                <a:solidFill>
                  <a:srgbClr val="DB932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文件折角"/>
              <p:cNvSpPr/>
              <p:nvPr/>
            </p:nvSpPr>
            <p:spPr>
              <a:xfrm>
                <a:off x="6017484" y="6784848"/>
                <a:ext cx="99852" cy="99852"/>
              </a:xfrm>
              <a:custGeom>
                <a:avLst/>
                <a:gdLst/>
                <a:ahLst/>
                <a:cxnLst/>
                <a:rect l="0" t="0" r="w" b="h"/>
                <a:pathLst>
                  <a:path w="99852" h="99852" fill="norm" stroke="1">
                    <a:moveTo>
                      <a:pt x="0" y="0"/>
                    </a:moveTo>
                    <a:lnTo>
                      <a:pt x="0" y="99852"/>
                    </a:lnTo>
                    <a:lnTo>
                      <a:pt x="99852" y="99852"/>
                    </a:ln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DB932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69" name="Task arrivals"/>
          <p:cNvSpPr txBox="1"/>
          <p:nvPr/>
        </p:nvSpPr>
        <p:spPr>
          <a:xfrm>
            <a:off x="3767328" y="7351776"/>
            <a:ext cx="3310128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4162A"/>
                </a:solidFill>
                <a:latin typeface="Times New Roman"/>
              </a:rPr>
              <a:t>Task arrivals</a:t>
            </a:r>
          </a:p>
        </p:txBody>
      </p:sp>
      <p:sp>
        <p:nvSpPr>
          <p:cNvPr id="270" name="Model, workload and deadline"/>
          <p:cNvSpPr txBox="1"/>
          <p:nvPr/>
        </p:nvSpPr>
        <p:spPr>
          <a:xfrm>
            <a:off x="3648456" y="7699248"/>
            <a:ext cx="355701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14162A"/>
                </a:solidFill>
                <a:latin typeface="Times New Roman"/>
              </a:rPr>
              <a:t>Model, workload and deadline</a:t>
            </a:r>
          </a:p>
        </p:txBody>
      </p:sp>
      <p:grpSp>
        <p:nvGrpSpPr>
          <p:cNvPr id="271" name="图标-用户路由选择"/>
          <p:cNvGrpSpPr/>
          <p:nvPr/>
        </p:nvGrpSpPr>
        <p:grpSpPr>
          <a:xfrm>
            <a:off x="8156448" y="6675120"/>
            <a:ext cx="850392" cy="731520"/>
            <a:chOff x="8156448" y="6675120"/>
            <a:chExt cx="850392" cy="731520"/>
          </a:xfrm>
        </p:grpSpPr>
        <p:cxnSp>
          <p:nvCxnSpPr>
            <p:cNvPr id="272" name="连接线"/>
            <p:cNvCxnSpPr/>
            <p:nvPr/>
          </p:nvCxnSpPr>
          <p:spPr>
            <a:xfrm flipV="1">
              <a:off x="8421624" y="6766560"/>
              <a:ext cx="329184" cy="274320"/>
            </a:xfrm>
            <a:prstGeom prst="line">
              <a:avLst/>
            </a:prstGeom>
            <a:ln w="27940">
              <a:solidFill>
                <a:srgbClr val="46505F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候选服务器"/>
            <p:cNvSpPr/>
            <p:nvPr/>
          </p:nvSpPr>
          <p:spPr>
            <a:xfrm>
              <a:off x="8823960" y="6675120"/>
              <a:ext cx="182880" cy="182880"/>
            </a:xfrm>
            <a:prstGeom prst="ellipse">
              <a:avLst/>
            </a:prstGeom>
            <a:solidFill>
              <a:srgbClr val="8DDFDA"/>
            </a:solidFill>
            <a:ln w="19050">
              <a:solidFill>
                <a:srgbClr val="17A5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4" name="连接线"/>
            <p:cNvCxnSpPr/>
            <p:nvPr/>
          </p:nvCxnSpPr>
          <p:spPr>
            <a:xfrm>
              <a:off x="8421624" y="7040880"/>
              <a:ext cx="329184" cy="0"/>
            </a:xfrm>
            <a:prstGeom prst="line">
              <a:avLst/>
            </a:prstGeom>
            <a:ln w="27940">
              <a:solidFill>
                <a:srgbClr val="46505F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候选服务器"/>
            <p:cNvSpPr/>
            <p:nvPr/>
          </p:nvSpPr>
          <p:spPr>
            <a:xfrm>
              <a:off x="8823960" y="6949440"/>
              <a:ext cx="182880" cy="182880"/>
            </a:xfrm>
            <a:prstGeom prst="ellipse">
              <a:avLst/>
            </a:prstGeom>
            <a:solidFill>
              <a:srgbClr val="B58BF0"/>
            </a:solidFill>
            <a:ln w="19050">
              <a:solidFill>
                <a:srgbClr val="7540B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6" name="连接线"/>
            <p:cNvCxnSpPr/>
            <p:nvPr/>
          </p:nvCxnSpPr>
          <p:spPr>
            <a:xfrm>
              <a:off x="8421624" y="7040880"/>
              <a:ext cx="329184" cy="274320"/>
            </a:xfrm>
            <a:prstGeom prst="line">
              <a:avLst/>
            </a:prstGeom>
            <a:ln w="27940">
              <a:solidFill>
                <a:srgbClr val="46505F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候选服务器"/>
            <p:cNvSpPr/>
            <p:nvPr/>
          </p:nvSpPr>
          <p:spPr>
            <a:xfrm>
              <a:off x="8823960" y="7223760"/>
              <a:ext cx="182880" cy="182880"/>
            </a:xfrm>
            <a:prstGeom prst="ellipse">
              <a:avLst/>
            </a:prstGeom>
            <a:solidFill>
              <a:srgbClr val="FFDA96"/>
            </a:solidFill>
            <a:ln w="19050">
              <a:solidFill>
                <a:srgbClr val="E6A1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路由节点"/>
            <p:cNvSpPr/>
            <p:nvPr/>
          </p:nvSpPr>
          <p:spPr>
            <a:xfrm>
              <a:off x="8156448" y="6931152"/>
              <a:ext cx="219456" cy="219456"/>
            </a:xfrm>
            <a:prstGeom prst="ellipse">
              <a:avLst/>
            </a:prstGeom>
            <a:solidFill>
              <a:srgbClr val="778398"/>
            </a:solidFill>
            <a:ln w="19050">
              <a:solidFill>
                <a:srgbClr val="343E4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9" name="User routing decision"/>
          <p:cNvSpPr txBox="1"/>
          <p:nvPr/>
        </p:nvSpPr>
        <p:spPr>
          <a:xfrm>
            <a:off x="7251192" y="7360920"/>
            <a:ext cx="276148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4162A"/>
                </a:solidFill>
                <a:latin typeface="Times New Roman"/>
              </a:rPr>
              <a:t>User routing decision</a:t>
            </a:r>
          </a:p>
        </p:txBody>
      </p:sp>
      <p:sp>
        <p:nvSpPr>
          <p:cNvPr id="280" name="Use channel, backlog and model residency"/>
          <p:cNvSpPr txBox="1"/>
          <p:nvPr/>
        </p:nvSpPr>
        <p:spPr>
          <a:xfrm>
            <a:off x="6867144" y="7699248"/>
            <a:ext cx="363931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4162A"/>
                </a:solidFill>
                <a:latin typeface="Times New Roman"/>
              </a:rPr>
              <a:t>Use channel, backlog and model residency</a:t>
            </a:r>
          </a:p>
        </p:txBody>
      </p:sp>
      <p:grpSp>
        <p:nvGrpSpPr>
          <p:cNvPr id="281" name="图标-服务和队列"/>
          <p:cNvGrpSpPr/>
          <p:nvPr/>
        </p:nvGrpSpPr>
        <p:grpSpPr>
          <a:xfrm>
            <a:off x="10817352" y="6547104"/>
            <a:ext cx="2926080" cy="448056"/>
            <a:chOff x="10817352" y="6711696"/>
            <a:chExt cx="2926080" cy="448056"/>
          </a:xfrm>
        </p:grpSpPr>
        <p:sp>
          <p:nvSpPr>
            <p:cNvPr id="282" name="等待队列外框"/>
            <p:cNvSpPr/>
            <p:nvPr/>
          </p:nvSpPr>
          <p:spPr>
            <a:xfrm>
              <a:off x="10817352" y="6784848"/>
              <a:ext cx="731520" cy="320040"/>
            </a:xfrm>
            <a:prstGeom prst="rect">
              <a:avLst/>
            </a:prstGeom>
            <a:solidFill>
              <a:srgbClr val="E7F1F7"/>
            </a:solidFill>
            <a:ln w="19050">
              <a:solidFill>
                <a:srgbClr val="2458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等待任务"/>
            <p:cNvSpPr/>
            <p:nvPr/>
          </p:nvSpPr>
          <p:spPr>
            <a:xfrm>
              <a:off x="10917936" y="6839712"/>
              <a:ext cx="137160" cy="274320"/>
            </a:xfrm>
            <a:prstGeom prst="rect">
              <a:avLst/>
            </a:prstGeom>
            <a:solidFill>
              <a:srgbClr val="BEDBEA"/>
            </a:solidFill>
            <a:ln w="15240">
              <a:solidFill>
                <a:srgbClr val="285C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等待任务"/>
            <p:cNvSpPr/>
            <p:nvPr/>
          </p:nvSpPr>
          <p:spPr>
            <a:xfrm>
              <a:off x="11073384" y="6839712"/>
              <a:ext cx="137160" cy="274320"/>
            </a:xfrm>
            <a:prstGeom prst="rect">
              <a:avLst/>
            </a:prstGeom>
            <a:solidFill>
              <a:srgbClr val="BEDBEA"/>
            </a:solidFill>
            <a:ln w="15240">
              <a:solidFill>
                <a:srgbClr val="285C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等待任务"/>
            <p:cNvSpPr/>
            <p:nvPr/>
          </p:nvSpPr>
          <p:spPr>
            <a:xfrm>
              <a:off x="11228832" y="6839712"/>
              <a:ext cx="137160" cy="274320"/>
            </a:xfrm>
            <a:prstGeom prst="rect">
              <a:avLst/>
            </a:prstGeom>
            <a:solidFill>
              <a:srgbClr val="BEDBEA"/>
            </a:solidFill>
            <a:ln w="15240">
              <a:solidFill>
                <a:srgbClr val="285C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等待任务"/>
            <p:cNvSpPr/>
            <p:nvPr/>
          </p:nvSpPr>
          <p:spPr>
            <a:xfrm>
              <a:off x="11384280" y="6839712"/>
              <a:ext cx="137160" cy="274320"/>
            </a:xfrm>
            <a:prstGeom prst="rect">
              <a:avLst/>
            </a:prstGeom>
            <a:solidFill>
              <a:srgbClr val="BEDBEA"/>
            </a:solidFill>
            <a:ln w="15240">
              <a:solidFill>
                <a:srgbClr val="285C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7" name="连接线"/>
            <p:cNvCxnSpPr/>
            <p:nvPr/>
          </p:nvCxnSpPr>
          <p:spPr>
            <a:xfrm>
              <a:off x="11603736" y="6958584"/>
              <a:ext cx="246888" cy="0"/>
            </a:xfrm>
            <a:prstGeom prst="line">
              <a:avLst/>
            </a:prstGeom>
            <a:ln w="22860">
              <a:solidFill>
                <a:srgbClr val="556376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8" name="图标-执行中的 GPU"/>
            <p:cNvGrpSpPr/>
            <p:nvPr/>
          </p:nvGrpSpPr>
          <p:grpSpPr>
            <a:xfrm>
              <a:off x="11905488" y="6711696"/>
              <a:ext cx="1008671" cy="448056"/>
              <a:chOff x="11905488" y="6711696"/>
              <a:chExt cx="1008671" cy="448056"/>
            </a:xfrm>
          </p:grpSpPr>
          <p:sp>
            <p:nvSpPr>
              <p:cNvPr id="289" name="矩形"/>
              <p:cNvSpPr/>
              <p:nvPr/>
            </p:nvSpPr>
            <p:spPr>
              <a:xfrm>
                <a:off x="11944851" y="7116894"/>
                <a:ext cx="457592" cy="23377"/>
              </a:xfrm>
              <a:prstGeom prst="rect">
                <a:avLst/>
              </a:prstGeom>
              <a:solidFill>
                <a:srgbClr val="C5A337"/>
              </a:solidFill>
              <a:ln w="6833">
                <a:solidFill>
                  <a:srgbClr val="5A514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矩形"/>
              <p:cNvSpPr/>
              <p:nvPr/>
            </p:nvSpPr>
            <p:spPr>
              <a:xfrm>
                <a:off x="11979293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矩形"/>
              <p:cNvSpPr/>
              <p:nvPr/>
            </p:nvSpPr>
            <p:spPr>
              <a:xfrm>
                <a:off x="12018656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矩形"/>
              <p:cNvSpPr/>
              <p:nvPr/>
            </p:nvSpPr>
            <p:spPr>
              <a:xfrm>
                <a:off x="12058019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矩形"/>
              <p:cNvSpPr/>
              <p:nvPr/>
            </p:nvSpPr>
            <p:spPr>
              <a:xfrm>
                <a:off x="12097381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矩形"/>
              <p:cNvSpPr/>
              <p:nvPr/>
            </p:nvSpPr>
            <p:spPr>
              <a:xfrm>
                <a:off x="12136744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矩形"/>
              <p:cNvSpPr/>
              <p:nvPr/>
            </p:nvSpPr>
            <p:spPr>
              <a:xfrm>
                <a:off x="12176107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矩形"/>
              <p:cNvSpPr/>
              <p:nvPr/>
            </p:nvSpPr>
            <p:spPr>
              <a:xfrm>
                <a:off x="12215470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矩形"/>
              <p:cNvSpPr/>
              <p:nvPr/>
            </p:nvSpPr>
            <p:spPr>
              <a:xfrm>
                <a:off x="12254832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矩形"/>
              <p:cNvSpPr/>
              <p:nvPr/>
            </p:nvSpPr>
            <p:spPr>
              <a:xfrm>
                <a:off x="12294195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矩形"/>
              <p:cNvSpPr/>
              <p:nvPr/>
            </p:nvSpPr>
            <p:spPr>
              <a:xfrm>
                <a:off x="12333558" y="7116894"/>
                <a:ext cx="19681" cy="23377"/>
              </a:xfrm>
              <a:prstGeom prst="rect">
                <a:avLst/>
              </a:prstGeom>
              <a:solidFill>
                <a:srgbClr val="E4C7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矩形"/>
              <p:cNvSpPr/>
              <p:nvPr/>
            </p:nvSpPr>
            <p:spPr>
              <a:xfrm>
                <a:off x="11944851" y="6746761"/>
                <a:ext cx="969308" cy="362341"/>
              </a:xfrm>
              <a:prstGeom prst="roundRect">
                <a:avLst>
                  <a:gd name="adj" fmla="val 10000"/>
                </a:avLst>
              </a:prstGeom>
              <a:solidFill>
                <a:srgbClr val="F0F1F0"/>
              </a:solidFill>
              <a:ln w="6833">
                <a:solidFill>
                  <a:srgbClr val="1517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GPU-金属上盖"/>
              <p:cNvSpPr/>
              <p:nvPr/>
            </p:nvSpPr>
            <p:spPr>
              <a:xfrm>
                <a:off x="12003895" y="6754554"/>
                <a:ext cx="865980" cy="132469"/>
              </a:xfrm>
              <a:custGeom>
                <a:avLst/>
                <a:gdLst/>
                <a:ahLst/>
                <a:cxnLst/>
                <a:rect l="0" t="0" r="w" b="h"/>
                <a:pathLst>
                  <a:path w="865980" h="132469" fill="norm" stroke="0">
                    <a:moveTo>
                      <a:pt x="0" y="0"/>
                    </a:moveTo>
                    <a:lnTo>
                      <a:pt x="290300" y="0"/>
                    </a:lnTo>
                    <a:lnTo>
                      <a:pt x="442831" y="89611"/>
                    </a:lnTo>
                    <a:lnTo>
                      <a:pt x="590441" y="0"/>
                    </a:lnTo>
                    <a:lnTo>
                      <a:pt x="865980" y="0"/>
                    </a:lnTo>
                    <a:lnTo>
                      <a:pt x="797096" y="46754"/>
                    </a:lnTo>
                    <a:lnTo>
                      <a:pt x="600282" y="54546"/>
                    </a:lnTo>
                    <a:lnTo>
                      <a:pt x="442831" y="132469"/>
                    </a:lnTo>
                    <a:lnTo>
                      <a:pt x="270619" y="58442"/>
                    </a:lnTo>
                    <a:lnTo>
                      <a:pt x="24602" y="50650"/>
                    </a:lnTo>
                    <a:close/>
                  </a:path>
                </a:pathLst>
              </a:custGeom>
              <a:solidFill>
                <a:srgbClr val="767B7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GPU-金属下盖"/>
              <p:cNvSpPr/>
              <p:nvPr/>
            </p:nvSpPr>
            <p:spPr>
              <a:xfrm>
                <a:off x="12013736" y="6964945"/>
                <a:ext cx="846299" cy="140261"/>
              </a:xfrm>
              <a:custGeom>
                <a:avLst/>
                <a:gdLst/>
                <a:ahLst/>
                <a:cxnLst/>
                <a:rect l="0" t="0" r="w" b="h"/>
                <a:pathLst>
                  <a:path w="846299" h="140261" fill="norm" stroke="0">
                    <a:moveTo>
                      <a:pt x="0" y="81819"/>
                    </a:moveTo>
                    <a:lnTo>
                      <a:pt x="270619" y="81819"/>
                    </a:lnTo>
                    <a:lnTo>
                      <a:pt x="418229" y="0"/>
                    </a:lnTo>
                    <a:lnTo>
                      <a:pt x="585521" y="89611"/>
                    </a:lnTo>
                    <a:lnTo>
                      <a:pt x="846299" y="89611"/>
                    </a:lnTo>
                    <a:lnTo>
                      <a:pt x="777414" y="136365"/>
                    </a:lnTo>
                    <a:lnTo>
                      <a:pt x="590441" y="136365"/>
                    </a:lnTo>
                    <a:lnTo>
                      <a:pt x="423149" y="66234"/>
                    </a:lnTo>
                    <a:lnTo>
                      <a:pt x="265699" y="140261"/>
                    </a:lnTo>
                    <a:lnTo>
                      <a:pt x="0" y="136365"/>
                    </a:lnTo>
                    <a:close/>
                  </a:path>
                </a:pathLst>
              </a:custGeom>
              <a:solidFill>
                <a:srgbClr val="AAAEB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GPU-风扇外圈"/>
              <p:cNvSpPr/>
              <p:nvPr/>
            </p:nvSpPr>
            <p:spPr>
              <a:xfrm>
                <a:off x="12033417" y="6774034"/>
                <a:ext cx="383787" cy="303899"/>
              </a:xfrm>
              <a:prstGeom prst="ellipse">
                <a:avLst/>
              </a:prstGeom>
              <a:solidFill>
                <a:srgbClr val="161B1E"/>
              </a:solidFill>
              <a:ln w="7517">
                <a:solidFill>
                  <a:srgbClr val="474C5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GPU-风扇底盘"/>
              <p:cNvSpPr/>
              <p:nvPr/>
            </p:nvSpPr>
            <p:spPr>
              <a:xfrm>
                <a:off x="12058019" y="6793515"/>
                <a:ext cx="334583" cy="264937"/>
              </a:xfrm>
              <a:prstGeom prst="ellipse">
                <a:avLst/>
              </a:prstGeom>
              <a:solidFill>
                <a:srgbClr val="2E333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GPU-风扇叶片"/>
              <p:cNvSpPr/>
              <p:nvPr/>
            </p:nvSpPr>
            <p:spPr>
              <a:xfrm rot="2640000">
                <a:off x="12264673" y="6894815"/>
                <a:ext cx="118088" cy="62338"/>
              </a:xfrm>
              <a:prstGeom prst="ellipse">
                <a:avLst/>
              </a:prstGeom>
              <a:solidFill>
                <a:srgbClr val="687074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GPU-风扇叶片"/>
              <p:cNvSpPr/>
              <p:nvPr/>
            </p:nvSpPr>
            <p:spPr>
              <a:xfrm rot="5725714">
                <a:off x="12227622" y="6955737"/>
                <a:ext cx="118088" cy="62338"/>
              </a:xfrm>
              <a:prstGeom prst="ellipse">
                <a:avLst/>
              </a:prstGeom>
              <a:solidFill>
                <a:srgbClr val="8E9699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GPU-风扇叶片"/>
              <p:cNvSpPr/>
              <p:nvPr/>
            </p:nvSpPr>
            <p:spPr>
              <a:xfrm rot="8811429">
                <a:off x="12144369" y="6970784"/>
                <a:ext cx="118088" cy="62338"/>
              </a:xfrm>
              <a:prstGeom prst="ellipse">
                <a:avLst/>
              </a:prstGeom>
              <a:solidFill>
                <a:srgbClr val="62696D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GPU-风扇叶片"/>
              <p:cNvSpPr/>
              <p:nvPr/>
            </p:nvSpPr>
            <p:spPr>
              <a:xfrm rot="11897143">
                <a:off x="12077605" y="6928624"/>
                <a:ext cx="118088" cy="62338"/>
              </a:xfrm>
              <a:prstGeom prst="ellipse">
                <a:avLst/>
              </a:prstGeom>
              <a:solidFill>
                <a:srgbClr val="687074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GPU-风扇叶片"/>
              <p:cNvSpPr/>
              <p:nvPr/>
            </p:nvSpPr>
            <p:spPr>
              <a:xfrm rot="14982857">
                <a:off x="12077605" y="6861005"/>
                <a:ext cx="118088" cy="62338"/>
              </a:xfrm>
              <a:prstGeom prst="ellipse">
                <a:avLst/>
              </a:prstGeom>
              <a:solidFill>
                <a:srgbClr val="8E9699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GPU-风扇叶片"/>
              <p:cNvSpPr/>
              <p:nvPr/>
            </p:nvSpPr>
            <p:spPr>
              <a:xfrm rot="18068571">
                <a:off x="12144369" y="6818845"/>
                <a:ext cx="118088" cy="62338"/>
              </a:xfrm>
              <a:prstGeom prst="ellipse">
                <a:avLst/>
              </a:prstGeom>
              <a:solidFill>
                <a:srgbClr val="62696D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GPU-风扇叶片"/>
              <p:cNvSpPr/>
              <p:nvPr/>
            </p:nvSpPr>
            <p:spPr>
              <a:xfrm rot="21154286">
                <a:off x="12227622" y="6833892"/>
                <a:ext cx="118088" cy="62338"/>
              </a:xfrm>
              <a:prstGeom prst="ellipse">
                <a:avLst/>
              </a:prstGeom>
              <a:solidFill>
                <a:srgbClr val="687074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GPU-风扇中心"/>
              <p:cNvSpPr/>
              <p:nvPr/>
            </p:nvSpPr>
            <p:spPr>
              <a:xfrm>
                <a:off x="12166266" y="6879230"/>
                <a:ext cx="118088" cy="93507"/>
              </a:xfrm>
              <a:prstGeom prst="ellipse">
                <a:avLst/>
              </a:prstGeom>
              <a:solidFill>
                <a:srgbClr val="BFC5C7"/>
              </a:solidFill>
              <a:ln w="6833">
                <a:solidFill>
                  <a:srgbClr val="0A0F1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GPU-中心高光"/>
              <p:cNvSpPr/>
              <p:nvPr/>
            </p:nvSpPr>
            <p:spPr>
              <a:xfrm>
                <a:off x="12190868" y="6898711"/>
                <a:ext cx="68885" cy="54546"/>
              </a:xfrm>
              <a:prstGeom prst="ellipse">
                <a:avLst/>
              </a:prstGeom>
              <a:solidFill>
                <a:srgbClr val="E9EAE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GPU-风扇外圈"/>
              <p:cNvSpPr/>
              <p:nvPr/>
            </p:nvSpPr>
            <p:spPr>
              <a:xfrm>
                <a:off x="12466407" y="6774034"/>
                <a:ext cx="383787" cy="303899"/>
              </a:xfrm>
              <a:prstGeom prst="ellipse">
                <a:avLst/>
              </a:prstGeom>
              <a:solidFill>
                <a:srgbClr val="161B1E"/>
              </a:solidFill>
              <a:ln w="7517">
                <a:solidFill>
                  <a:srgbClr val="474C5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GPU-风扇底盘"/>
              <p:cNvSpPr/>
              <p:nvPr/>
            </p:nvSpPr>
            <p:spPr>
              <a:xfrm>
                <a:off x="12491009" y="6793515"/>
                <a:ext cx="334583" cy="264937"/>
              </a:xfrm>
              <a:prstGeom prst="ellipse">
                <a:avLst/>
              </a:prstGeom>
              <a:solidFill>
                <a:srgbClr val="2E333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GPU-风扇叶片"/>
              <p:cNvSpPr/>
              <p:nvPr/>
            </p:nvSpPr>
            <p:spPr>
              <a:xfrm rot="2640000">
                <a:off x="12697663" y="6894815"/>
                <a:ext cx="118088" cy="62338"/>
              </a:xfrm>
              <a:prstGeom prst="ellipse">
                <a:avLst/>
              </a:prstGeom>
              <a:solidFill>
                <a:srgbClr val="687074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GPU-风扇叶片"/>
              <p:cNvSpPr/>
              <p:nvPr/>
            </p:nvSpPr>
            <p:spPr>
              <a:xfrm rot="5725714">
                <a:off x="12660612" y="6955737"/>
                <a:ext cx="118088" cy="62338"/>
              </a:xfrm>
              <a:prstGeom prst="ellipse">
                <a:avLst/>
              </a:prstGeom>
              <a:solidFill>
                <a:srgbClr val="8E9699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GPU-风扇叶片"/>
              <p:cNvSpPr/>
              <p:nvPr/>
            </p:nvSpPr>
            <p:spPr>
              <a:xfrm rot="8811429">
                <a:off x="12577359" y="6970784"/>
                <a:ext cx="118088" cy="62338"/>
              </a:xfrm>
              <a:prstGeom prst="ellipse">
                <a:avLst/>
              </a:prstGeom>
              <a:solidFill>
                <a:srgbClr val="62696D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GPU-风扇叶片"/>
              <p:cNvSpPr/>
              <p:nvPr/>
            </p:nvSpPr>
            <p:spPr>
              <a:xfrm rot="11897143">
                <a:off x="12510595" y="6928624"/>
                <a:ext cx="118088" cy="62338"/>
              </a:xfrm>
              <a:prstGeom prst="ellipse">
                <a:avLst/>
              </a:prstGeom>
              <a:solidFill>
                <a:srgbClr val="687074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GPU-风扇叶片"/>
              <p:cNvSpPr/>
              <p:nvPr/>
            </p:nvSpPr>
            <p:spPr>
              <a:xfrm rot="14982857">
                <a:off x="12510595" y="6861005"/>
                <a:ext cx="118088" cy="62338"/>
              </a:xfrm>
              <a:prstGeom prst="ellipse">
                <a:avLst/>
              </a:prstGeom>
              <a:solidFill>
                <a:srgbClr val="8E9699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GPU-风扇叶片"/>
              <p:cNvSpPr/>
              <p:nvPr/>
            </p:nvSpPr>
            <p:spPr>
              <a:xfrm rot="18068571">
                <a:off x="12577359" y="6818845"/>
                <a:ext cx="118088" cy="62338"/>
              </a:xfrm>
              <a:prstGeom prst="ellipse">
                <a:avLst/>
              </a:prstGeom>
              <a:solidFill>
                <a:srgbClr val="62696D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GPU-风扇叶片"/>
              <p:cNvSpPr/>
              <p:nvPr/>
            </p:nvSpPr>
            <p:spPr>
              <a:xfrm rot="21154286">
                <a:off x="12660612" y="6833892"/>
                <a:ext cx="118088" cy="62338"/>
              </a:xfrm>
              <a:prstGeom prst="ellipse">
                <a:avLst/>
              </a:prstGeom>
              <a:solidFill>
                <a:srgbClr val="687074"/>
              </a:solidFill>
              <a:ln w="4441">
                <a:solidFill>
                  <a:srgbClr val="0C111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GPU-风扇中心"/>
              <p:cNvSpPr/>
              <p:nvPr/>
            </p:nvSpPr>
            <p:spPr>
              <a:xfrm>
                <a:off x="12599256" y="6879230"/>
                <a:ext cx="118088" cy="93507"/>
              </a:xfrm>
              <a:prstGeom prst="ellipse">
                <a:avLst/>
              </a:prstGeom>
              <a:solidFill>
                <a:srgbClr val="BFC5C7"/>
              </a:solidFill>
              <a:ln w="6833">
                <a:solidFill>
                  <a:srgbClr val="0A0F1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GPU-中心高光"/>
              <p:cNvSpPr/>
              <p:nvPr/>
            </p:nvSpPr>
            <p:spPr>
              <a:xfrm>
                <a:off x="12623858" y="6898711"/>
                <a:ext cx="68885" cy="54546"/>
              </a:xfrm>
              <a:prstGeom prst="ellipse">
                <a:avLst/>
              </a:prstGeom>
              <a:solidFill>
                <a:srgbClr val="E9EAE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矩形"/>
              <p:cNvSpPr/>
              <p:nvPr/>
            </p:nvSpPr>
            <p:spPr>
              <a:xfrm>
                <a:off x="11949771" y="6711696"/>
                <a:ext cx="29522" cy="448056"/>
              </a:xfrm>
              <a:prstGeom prst="rect">
                <a:avLst/>
              </a:prstGeom>
              <a:solidFill>
                <a:srgbClr val="858985"/>
              </a:solidFill>
              <a:ln w="6833">
                <a:solidFill>
                  <a:srgbClr val="1517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矩形"/>
              <p:cNvSpPr/>
              <p:nvPr/>
            </p:nvSpPr>
            <p:spPr>
              <a:xfrm>
                <a:off x="11905488" y="6777930"/>
                <a:ext cx="44283" cy="46754"/>
              </a:xfrm>
              <a:prstGeom prst="rect">
                <a:avLst/>
              </a:prstGeom>
              <a:solidFill>
                <a:srgbClr val="737974"/>
              </a:solidFill>
              <a:ln w="6833">
                <a:solidFill>
                  <a:srgbClr val="1517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矩形"/>
              <p:cNvSpPr/>
              <p:nvPr/>
            </p:nvSpPr>
            <p:spPr>
              <a:xfrm>
                <a:off x="11915329" y="7027283"/>
                <a:ext cx="39363" cy="42858"/>
              </a:xfrm>
              <a:prstGeom prst="rect">
                <a:avLst/>
              </a:prstGeom>
              <a:solidFill>
                <a:srgbClr val="737974"/>
              </a:solidFill>
              <a:ln w="6833">
                <a:solidFill>
                  <a:srgbClr val="1517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矩形"/>
              <p:cNvSpPr/>
              <p:nvPr/>
            </p:nvSpPr>
            <p:spPr>
              <a:xfrm>
                <a:off x="12864955" y="6801307"/>
                <a:ext cx="39363" cy="19481"/>
              </a:xfrm>
              <a:prstGeom prst="rect">
                <a:avLst/>
              </a:prstGeom>
              <a:solidFill>
                <a:srgbClr val="393E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矩形"/>
              <p:cNvSpPr/>
              <p:nvPr/>
            </p:nvSpPr>
            <p:spPr>
              <a:xfrm>
                <a:off x="12864955" y="6871438"/>
                <a:ext cx="39363" cy="19481"/>
              </a:xfrm>
              <a:prstGeom prst="rect">
                <a:avLst/>
              </a:prstGeom>
              <a:solidFill>
                <a:srgbClr val="393E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" name="矩形"/>
              <p:cNvSpPr/>
              <p:nvPr/>
            </p:nvSpPr>
            <p:spPr>
              <a:xfrm>
                <a:off x="12864955" y="6941568"/>
                <a:ext cx="39363" cy="19481"/>
              </a:xfrm>
              <a:prstGeom prst="rect">
                <a:avLst/>
              </a:prstGeom>
              <a:solidFill>
                <a:srgbClr val="393E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" name="矩形"/>
              <p:cNvSpPr/>
              <p:nvPr/>
            </p:nvSpPr>
            <p:spPr>
              <a:xfrm>
                <a:off x="12864955" y="7011699"/>
                <a:ext cx="39363" cy="19481"/>
              </a:xfrm>
              <a:prstGeom prst="rect">
                <a:avLst/>
              </a:prstGeom>
              <a:solidFill>
                <a:srgbClr val="393E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32" name="服务进度条"/>
            <p:cNvSpPr/>
            <p:nvPr/>
          </p:nvSpPr>
          <p:spPr>
            <a:xfrm>
              <a:off x="13057632" y="6867144"/>
              <a:ext cx="685800" cy="164592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6510">
              <a:solidFill>
                <a:srgbClr val="7D85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已完成的服务进度"/>
            <p:cNvSpPr/>
            <p:nvPr/>
          </p:nvSpPr>
          <p:spPr>
            <a:xfrm>
              <a:off x="13094208" y="6903720"/>
              <a:ext cx="301752" cy="91440"/>
            </a:xfrm>
            <a:prstGeom prst="rect">
              <a:avLst/>
            </a:prstGeom>
            <a:solidFill>
              <a:srgbClr val="35C7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34" name="Service and state update"/>
          <p:cNvSpPr txBox="1"/>
          <p:nvPr/>
        </p:nvSpPr>
        <p:spPr>
          <a:xfrm>
            <a:off x="10844784" y="7029724"/>
            <a:ext cx="2651760" cy="6349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4162A"/>
                </a:solidFill>
                <a:latin typeface="Times New Roman"/>
              </a:rPr>
              <a:t>Service and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4162A"/>
                </a:solidFill>
                <a:latin typeface="Times New Roman"/>
              </a:rPr>
              <a:t>state update</a:t>
            </a:r>
          </a:p>
        </p:txBody>
      </p:sp>
      <p:sp>
        <p:nvSpPr>
          <p:cNvPr id="335" name="Server occupancy and model residency"/>
          <p:cNvSpPr txBox="1"/>
          <p:nvPr/>
        </p:nvSpPr>
        <p:spPr>
          <a:xfrm>
            <a:off x="10625328" y="7671816"/>
            <a:ext cx="340156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4162A"/>
                </a:solidFill>
                <a:latin typeface="Times New Roman"/>
              </a:rPr>
              <a:t>Server occupancy and model residency</a:t>
            </a:r>
          </a:p>
        </p:txBody>
      </p:sp>
      <p:sp>
        <p:nvSpPr>
          <p:cNvPr id="336" name="环境更新标签底板"/>
          <p:cNvSpPr/>
          <p:nvPr/>
        </p:nvSpPr>
        <p:spPr>
          <a:xfrm>
            <a:off x="11539728" y="7936992"/>
            <a:ext cx="1124712" cy="201168"/>
          </a:xfrm>
          <a:prstGeom prst="roundRect">
            <a:avLst>
              <a:gd name="adj" fmla="val 10000"/>
            </a:avLst>
          </a:prstGeom>
          <a:solidFill>
            <a:srgbClr val="E7E7E7"/>
          </a:solidFill>
          <a:ln w="10160">
            <a:solidFill>
              <a:srgbClr val="C2C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nvironment"/>
          <p:cNvSpPr txBox="1"/>
          <p:nvPr/>
        </p:nvSpPr>
        <p:spPr>
          <a:xfrm>
            <a:off x="11539728" y="7918704"/>
            <a:ext cx="112471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4162A"/>
                </a:solidFill>
                <a:latin typeface="Times New Roman"/>
              </a:rPr>
              <a:t>Environment</a:t>
            </a:r>
          </a:p>
        </p:txBody>
      </p:sp>
      <p:cxnSp>
        <p:nvCxnSpPr>
          <p:cNvPr id="338" name="短时标流程轴"/>
          <p:cNvCxnSpPr/>
          <p:nvPr/>
        </p:nvCxnSpPr>
        <p:spPr>
          <a:xfrm>
            <a:off x="4197096" y="8595360"/>
            <a:ext cx="9637776" cy="0"/>
          </a:xfrm>
          <a:prstGeom prst="line">
            <a:avLst/>
          </a:prstGeom>
          <a:ln w="21590">
            <a:solidFill>
              <a:srgbClr val="15171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连接线"/>
          <p:cNvCxnSpPr/>
          <p:nvPr/>
        </p:nvCxnSpPr>
        <p:spPr>
          <a:xfrm>
            <a:off x="4197096" y="8366760"/>
            <a:ext cx="0" cy="228600"/>
          </a:xfrm>
          <a:prstGeom prst="line">
            <a:avLst/>
          </a:prstGeom>
          <a:ln w="2159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连接线"/>
          <p:cNvCxnSpPr/>
          <p:nvPr/>
        </p:nvCxnSpPr>
        <p:spPr>
          <a:xfrm>
            <a:off x="5422392" y="8458200"/>
            <a:ext cx="0" cy="137160"/>
          </a:xfrm>
          <a:prstGeom prst="line">
            <a:avLst/>
          </a:prstGeom>
          <a:ln w="2032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1"/>
          <p:cNvSpPr txBox="1"/>
          <p:nvPr/>
        </p:nvSpPr>
        <p:spPr>
          <a:xfrm>
            <a:off x="5239512" y="8155351"/>
            <a:ext cx="365760" cy="294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4162A"/>
                </a:solidFill>
                <a:latin typeface="Times New Roman"/>
              </a:rPr>
              <a:t>1</a:t>
            </a:r>
          </a:p>
        </p:txBody>
      </p:sp>
      <p:cxnSp>
        <p:nvCxnSpPr>
          <p:cNvPr id="342" name="连接线"/>
          <p:cNvCxnSpPr/>
          <p:nvPr/>
        </p:nvCxnSpPr>
        <p:spPr>
          <a:xfrm>
            <a:off x="8622792" y="8458200"/>
            <a:ext cx="0" cy="137160"/>
          </a:xfrm>
          <a:prstGeom prst="line">
            <a:avLst/>
          </a:prstGeom>
          <a:ln w="2032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2"/>
          <p:cNvSpPr txBox="1"/>
          <p:nvPr/>
        </p:nvSpPr>
        <p:spPr>
          <a:xfrm>
            <a:off x="8439912" y="8155351"/>
            <a:ext cx="365760" cy="294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4162A"/>
                </a:solidFill>
                <a:latin typeface="Times New Roman"/>
              </a:rPr>
              <a:t>2</a:t>
            </a:r>
          </a:p>
        </p:txBody>
      </p:sp>
      <p:cxnSp>
        <p:nvCxnSpPr>
          <p:cNvPr id="344" name="连接线"/>
          <p:cNvCxnSpPr/>
          <p:nvPr/>
        </p:nvCxnSpPr>
        <p:spPr>
          <a:xfrm>
            <a:off x="12106656" y="8458200"/>
            <a:ext cx="0" cy="137160"/>
          </a:xfrm>
          <a:prstGeom prst="line">
            <a:avLst/>
          </a:prstGeom>
          <a:ln w="20320">
            <a:solidFill>
              <a:srgbClr val="1517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3"/>
          <p:cNvSpPr txBox="1"/>
          <p:nvPr/>
        </p:nvSpPr>
        <p:spPr>
          <a:xfrm>
            <a:off x="11923776" y="8155351"/>
            <a:ext cx="365760" cy="2948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4162A"/>
                </a:solidFill>
                <a:latin typeface="Times New Roman"/>
              </a:rPr>
              <a:t>3</a:t>
            </a:r>
          </a:p>
        </p:txBody>
      </p:sp>
      <p:sp>
        <p:nvSpPr>
          <p:cNvPr id="346" name="一个 slot 内的工作流括号"/>
          <p:cNvSpPr/>
          <p:nvPr/>
        </p:nvSpPr>
        <p:spPr>
          <a:xfrm>
            <a:off x="5422392" y="8686800"/>
            <a:ext cx="6684264" cy="146304"/>
          </a:xfrm>
          <a:custGeom>
            <a:avLst/>
            <a:gdLst/>
            <a:ahLst/>
            <a:cxnLst/>
            <a:rect l="0" t="0" r="w" b="h"/>
            <a:pathLst>
              <a:path w="6684264" h="146304" fill="none" stroke="1">
                <a:moveTo>
                  <a:pt x="0" y="0"/>
                </a:moveTo>
                <a:cubicBezTo>
                  <a:pt x="0" y="146304"/>
                  <a:pt x="0" y="146304"/>
                  <a:pt x="82296" y="146304"/>
                </a:cubicBezTo>
                <a:lnTo>
                  <a:pt x="3268980" y="146304"/>
                </a:lnTo>
                <a:cubicBezTo>
                  <a:pt x="3342132" y="146304"/>
                  <a:pt x="3342132" y="146304"/>
                  <a:pt x="3342132" y="0"/>
                </a:cubicBezTo>
                <a:cubicBezTo>
                  <a:pt x="3342132" y="146304"/>
                  <a:pt x="3342132" y="146304"/>
                  <a:pt x="3415284" y="146304"/>
                </a:cubicBezTo>
                <a:lnTo>
                  <a:pt x="6601968" y="146304"/>
                </a:lnTo>
                <a:cubicBezTo>
                  <a:pt x="6684264" y="146304"/>
                  <a:pt x="6684264" y="146304"/>
                  <a:pt x="6684264" y="0"/>
                </a:cubicBezTo>
              </a:path>
            </a:pathLst>
          </a:custGeom>
          <a:noFill/>
          <a:ln w="21590">
            <a:solidFill>
              <a:srgbClr val="087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Within one short slot τ"/>
          <p:cNvSpPr txBox="1"/>
          <p:nvPr/>
        </p:nvSpPr>
        <p:spPr>
          <a:xfrm>
            <a:off x="6464808" y="8851392"/>
            <a:ext cx="47091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4162A"/>
                </a:solidFill>
                <a:latin typeface="Times New Roman"/>
              </a:rPr>
              <a:t>Within one short slot τ</a:t>
            </a:r>
          </a:p>
        </p:txBody>
      </p:sp>
      <p:sp>
        <p:nvSpPr>
          <p:cNvPr id="348" name="Tasks may span multiple slots. Service-triggered reloads and necessary memory adjustments "/>
          <p:cNvSpPr txBox="1"/>
          <p:nvPr/>
        </p:nvSpPr>
        <p:spPr>
          <a:xfrm>
            <a:off x="1563624" y="9205631"/>
            <a:ext cx="11795760" cy="2607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14162A"/>
                </a:solidFill>
                <a:latin typeface="Times New Roman"/>
              </a:rPr>
              <a:t>Tasks may span multiple slots. Service-triggered reloads and necessary memory adjustments may occur within an epoch.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